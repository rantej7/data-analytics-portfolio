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32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32F"/>
                </a:solidFill>
                <a:latin typeface="Calibri"/>
              </a:rPr>
              <a:t>Churn Rate by Age Group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33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35-44</c:v>
                </c:pt>
                <c:pt idx="2">
                  <c:v>55+</c:v>
                </c:pt>
                <c:pt idx="3">
                  <c:v>45-54</c:v>
                </c:pt>
                <c:pt idx="4">
                  <c:v>25-34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39.299999999999997</c:v>
                </c:pt>
                <c:pt idx="1">
                  <c:v>39.1</c:v>
                </c:pt>
                <c:pt idx="2">
                  <c:v>33.1</c:v>
                </c:pt>
                <c:pt idx="3">
                  <c:v>32.5</c:v>
                </c:pt>
                <c:pt idx="4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C8-7441-8E51-9DFA739C9A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33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32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32F"/>
                </a:solidFill>
                <a:latin typeface="Calibri"/>
              </a:rPr>
              <a:t>Churn Rate by Subscription Tier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C144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5B0-4930-976B-FB40078C8C35}"/>
              </c:ext>
            </c:extLst>
          </c:dPt>
          <c:dPt>
            <c:idx val="1"/>
            <c:invertIfNegative val="0"/>
            <c:bubble3D val="0"/>
            <c:spPr>
              <a:solidFill>
                <a:srgbClr val="C98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35B0-4930-976B-FB40078C8C35}"/>
              </c:ext>
            </c:extLst>
          </c:dPt>
          <c:dPt>
            <c:idx val="2"/>
            <c:invertIfNegative val="0"/>
            <c:bubble3D val="0"/>
            <c:spPr>
              <a:solidFill>
                <a:srgbClr val="1F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35B0-4930-976B-FB40078C8C3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33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Standard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</c:v>
                </c:pt>
                <c:pt idx="1">
                  <c:v>34.4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0B-1043-84E3-80BEB6C0DE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33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32F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7332F"/>
                </a:solidFill>
                <a:latin typeface="Calibri"/>
              </a:rPr>
              <a:t>Churn Rate by Location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33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Midwest</c:v>
                </c:pt>
                <c:pt idx="2">
                  <c:v>West</c:v>
                </c:pt>
                <c:pt idx="3">
                  <c:v>Northeast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37.799999999999997</c:v>
                </c:pt>
                <c:pt idx="1">
                  <c:v>34.6</c:v>
                </c:pt>
                <c:pt idx="2">
                  <c:v>33.700000000000003</c:v>
                </c:pt>
                <c:pt idx="3">
                  <c:v>33.1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8F-D144-88B5-E2F9E290B0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33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9525" cap="flat">
              <a:solidFill>
                <a:srgbClr val="E0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32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32F"/>
                </a:solidFill>
                <a:latin typeface="Calibri"/>
              </a:rPr>
              <a:t>Churn Rate by Engagement Score Band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C144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41F-45DF-9459-63E237EFE7ED}"/>
              </c:ext>
            </c:extLst>
          </c:dPt>
          <c:dPt>
            <c:idx val="1"/>
            <c:invertIfNegative val="0"/>
            <c:bubble3D val="0"/>
            <c:spPr>
              <a:solidFill>
                <a:srgbClr val="C98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441F-45DF-9459-63E237EFE7ED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441F-45DF-9459-63E237EFE7ED}"/>
              </c:ext>
            </c:extLst>
          </c:dPt>
          <c:dPt>
            <c:idx val="3"/>
            <c:invertIfNegative val="0"/>
            <c:bubble3D val="0"/>
            <c:spPr>
              <a:solidFill>
                <a:srgbClr val="1F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441F-45DF-9459-63E237EFE7E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33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0-25 (Low)</c:v>
                </c:pt>
                <c:pt idx="1">
                  <c:v>26-50</c:v>
                </c:pt>
                <c:pt idx="2">
                  <c:v>51-75</c:v>
                </c:pt>
                <c:pt idx="3">
                  <c:v>76-100 (High)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78.400000000000006</c:v>
                </c:pt>
                <c:pt idx="1">
                  <c:v>51.9</c:v>
                </c:pt>
                <c:pt idx="2">
                  <c:v>32.1</c:v>
                </c:pt>
                <c:pt idx="3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76-E543-888F-FFA325B772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733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32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32F"/>
                </a:solidFill>
                <a:latin typeface="Calibri"/>
              </a:rPr>
              <a:t>Average CLV: Churned vs. Active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CLV $</c:v>
                </c:pt>
              </c:strCache>
            </c:strRef>
          </c:tx>
          <c:spPr>
            <a:solidFill>
              <a:srgbClr val="C144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D85-4AF3-A868-98A7A4755A25}"/>
              </c:ext>
            </c:extLst>
          </c:dPt>
          <c:dPt>
            <c:idx val="1"/>
            <c:invertIfNegative val="0"/>
            <c:bubble3D val="0"/>
            <c:spPr>
              <a:solidFill>
                <a:srgbClr val="1F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D85-4AF3-A868-98A7A4755A25}"/>
              </c:ext>
            </c:extLst>
          </c:dPt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33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Churned</c:v>
                </c:pt>
                <c:pt idx="1">
                  <c:v>Active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185.97</c:v>
                </c:pt>
                <c:pt idx="1">
                  <c:v>417.35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48-E84E-A16B-BF12CBDB30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3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7332F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7332F"/>
                </a:solidFill>
                <a:latin typeface="Calibri"/>
              </a:rPr>
              <a:t>What Drives the Prediction? (Model Coefficient Strength)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B47-4F3A-AFD1-4C896954A36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47-4F3A-AFD1-4C896954A36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B47-4F3A-AFD1-4C896954A36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B47-4F3A-AFD1-4C896954A36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AB47-4F3A-AFD1-4C896954A36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B47-4F3A-AFD1-4C896954A366}"/>
              </c:ext>
            </c:extLst>
          </c:dPt>
          <c:dPt>
            <c:idx val="6"/>
            <c:invertIfNegative val="0"/>
            <c:bubble3D val="0"/>
            <c:spPr>
              <a:solidFill>
                <a:srgbClr val="C14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47-4F3A-AFD1-4C896954A366}"/>
              </c:ext>
            </c:extLst>
          </c:dPt>
          <c:dPt>
            <c:idx val="7"/>
            <c:invertIfNegative val="0"/>
            <c:bubble3D val="0"/>
            <c:spPr>
              <a:solidFill>
                <a:srgbClr val="C14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B47-4F3A-AFD1-4C896954A366}"/>
              </c:ext>
            </c:extLst>
          </c:dPt>
          <c:dPt>
            <c:idx val="8"/>
            <c:invertIfNegative val="0"/>
            <c:bubble3D val="0"/>
            <c:spPr>
              <a:solidFill>
                <a:srgbClr val="C14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B47-4F3A-AFD1-4C896954A36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733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Engagement Score ↓</c:v>
                </c:pt>
                <c:pt idx="1">
                  <c:v>Age 45-54 ↓</c:v>
                </c:pt>
                <c:pt idx="2">
                  <c:v>Age 55+ ↓</c:v>
                </c:pt>
                <c:pt idx="3">
                  <c:v>Age 35-44 ↓</c:v>
                </c:pt>
                <c:pt idx="4">
                  <c:v>Monthly Fee ↓</c:v>
                </c:pt>
                <c:pt idx="5">
                  <c:v>Premium Tier ↓</c:v>
                </c:pt>
                <c:pt idx="6">
                  <c:v>West ↑</c:v>
                </c:pt>
                <c:pt idx="7">
                  <c:v>Northeast ↑</c:v>
                </c:pt>
                <c:pt idx="8">
                  <c:v>South ↑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0.85899999999999999</c:v>
                </c:pt>
                <c:pt idx="1">
                  <c:v>0.38200000000000001</c:v>
                </c:pt>
                <c:pt idx="2">
                  <c:v>0.35099999999999998</c:v>
                </c:pt>
                <c:pt idx="3">
                  <c:v>0.34300000000000003</c:v>
                </c:pt>
                <c:pt idx="4">
                  <c:v>0.29099999999999998</c:v>
                </c:pt>
                <c:pt idx="5">
                  <c:v>9.7000000000000003E-2</c:v>
                </c:pt>
                <c:pt idx="6">
                  <c:v>2.3E-2</c:v>
                </c:pt>
                <c:pt idx="7">
                  <c:v>7.0999999999999994E-2</c:v>
                </c:pt>
                <c:pt idx="8">
                  <c:v>0.372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2B-B14E-9A78-9ADE6BB3C6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733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32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332F"/>
                </a:solidFill>
                <a:latin typeface="Calibri"/>
              </a:rPr>
              <a:t>Active Customers by Risk Tier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B5-48E0-82C5-3EE744EE635B}"/>
              </c:ext>
            </c:extLst>
          </c:dPt>
          <c:dPt>
            <c:idx val="1"/>
            <c:bubble3D val="0"/>
            <c:spPr>
              <a:solidFill>
                <a:srgbClr val="C98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B5-48E0-82C5-3EE744EE635B}"/>
              </c:ext>
            </c:extLst>
          </c:dPt>
          <c:dPt>
            <c:idx val="2"/>
            <c:bubble3D val="0"/>
            <c:spPr>
              <a:solidFill>
                <a:srgbClr val="C14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B5-48E0-82C5-3EE744EE635B}"/>
              </c:ext>
            </c:extLst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FB5-48E0-82C5-3EE744EE635B}"/>
                </c:ext>
              </c:extLst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B5-48E0-82C5-3EE744EE635B}"/>
                </c:ext>
              </c:extLst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FB5-48E0-82C5-3EE744EE635B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627</c:v>
                </c:pt>
                <c:pt idx="1">
                  <c:v>313</c:v>
                </c:pt>
                <c:pt idx="2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91-324C-A01F-25A1697826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332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05146-FD4A-B448-951D-5AEFF05A840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782FB-ECC4-F742-970F-61DBD1075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8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solidFill>
            <a:srgbClr val="00A896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BOXIFY  •  SUBSCRIPTION LIFESTYLE BOXES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&amp; Retention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subscribers cancel, who's most at risk, and how to cut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5–10% over the next 6 months.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churn problem concentrated in low engagement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4203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boxify/icons/userx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373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30552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35.1%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633472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46704" y="1554480"/>
            <a:ext cx="254203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boxify/icons/calendar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7373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9584" y="2130552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 mo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3529584" y="2633472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Subscription Length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44768" y="1554480"/>
            <a:ext cx="254203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/home/claude/boxify/icons/dollar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7373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27648" y="2130552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$97.8K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6327648" y="2633472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 Churn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942832" y="1554480"/>
            <a:ext cx="254203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/home/claude/boxify/icons/alert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3736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25712" y="2130552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9125712" y="2633472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High-Risk Customers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94360" y="391363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376732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the single strongest churn driver: customers in the lowest engagement band churn at 78% vs. just 10% for the most engaged.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94360" y="448056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18"/>
          <p:cNvSpPr/>
          <p:nvPr/>
        </p:nvSpPr>
        <p:spPr>
          <a:xfrm>
            <a:off x="868680" y="4334256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Basic-tier subscribers churn at 47% — nearly 2.5× the Premium rate (19%) — and carry the lowest lifetime value ($178 vs. $564).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94360" y="504748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4901184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and 35–44 year-olds churn above average (~39%); the South region also runs hottest (37.8%).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594360" y="561441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2"/>
          <p:cNvSpPr/>
          <p:nvPr/>
        </p:nvSpPr>
        <p:spPr>
          <a:xfrm>
            <a:off x="868680" y="546811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logistic regression model predicts churn with 77% AUC — engagement score alone explains most of the signal.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Objectives, data &amp; 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2F7F6"/>
          </a:solidFill>
          <a:ln/>
        </p:spPr>
      </p:sp>
      <p:pic>
        <p:nvPicPr>
          <p:cNvPr id="5" name="Image 0" descr="/home/claude/boxify/icons/compass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019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257860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4231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 rate 5–10% over the next 6 months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236976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08152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segments most at risk of cancelling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895344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7398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CLV and revenue lost to churn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553712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39826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model to flag likely churners early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521208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50566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retention campaigns and engagement tactics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023E4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8" name="Image 1" descr="/home/claude/boxify/icons/fla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901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Assumptions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492240" y="2423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boxify_customers.csv  —  1,500 subscribers, 3-year window (Aug 2023–Jul 2026)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92240" y="2880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  ·   Age_Group   ·   Gender   ·   Location   ·   Subscription_Type   ·   Monthly_Fee   ·   Join_Date   ·   Subscription_Duration_Months   ·   Engagement_Score   ·   CLV   ·   Churn_Status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92240" y="3703320"/>
            <a:ext cx="48463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92240" y="3950208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0"/>
          <p:cNvSpPr/>
          <p:nvPr/>
        </p:nvSpPr>
        <p:spPr>
          <a:xfrm>
            <a:off x="6720840" y="377647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 of rows had missing Engagement_Score (tracking gaps) — imputed with each tier's median, not zero.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492240" y="4517136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2"/>
          <p:cNvSpPr/>
          <p:nvPr/>
        </p:nvSpPr>
        <p:spPr>
          <a:xfrm>
            <a:off x="6720840" y="43434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measured at end of each monthly cycle.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492240" y="5084064"/>
            <a:ext cx="64008" cy="640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4"/>
          <p:cNvSpPr/>
          <p:nvPr/>
        </p:nvSpPr>
        <p:spPr>
          <a:xfrm>
            <a:off x="6720840" y="491032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= monthly fee × tenure, with small variance for upsells/discounts.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720840" y="547725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Basic-tier and younger subscribers churn the most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41732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subscribers churn 2.5× more than Premium; 18–24s and 35–44s are the two riskiest age bands, both near 39%.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the clearest early-warning signal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55080" y="141732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8704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Low-engagement customers churn 8× more than high-engagement ones — location differences are comparatively minor (33–38%).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Churned customers are worth 55% less over their lifetime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2120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46304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023E40"/>
          </a:solidFill>
          <a:ln/>
        </p:spPr>
      </p:sp>
      <p:pic>
        <p:nvPicPr>
          <p:cNvPr id="6" name="Image 0" descr="/home/claude/boxify/icons/doll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373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1764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at Stake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355080" y="2148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$97.8K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35508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lifetime revenue lost from 526 churned subscribers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355080" y="3337560"/>
            <a:ext cx="48463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55080" y="36393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6556248" y="34747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churned customer generates $186 before leaving vs. $417 for an active one — a $231 gap per customer.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55080" y="435254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6556248" y="41879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Basic-tier churners are the cheapest to lose in absolute terms, but represent the largest volume of lost accounts.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506577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2"/>
          <p:cNvSpPr/>
          <p:nvPr/>
        </p:nvSpPr>
        <p:spPr>
          <a:xfrm>
            <a:off x="6556248" y="49011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5-point reduction in churn rate (35%→ 30%) would retain ~75 customers and protect roughly $14K in annual CLV.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model flags likely churners with 77% AUC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boxify/icons/activity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19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(test set)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(test set)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4343400"/>
            <a:ext cx="3017520" cy="0"/>
          </a:xfrm>
          <a:prstGeom prst="line">
            <a:avLst/>
          </a:prstGeom>
          <a:noFill/>
          <a:ln w="12700">
            <a:solidFill>
              <a:srgbClr val="D5E3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480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Age Group, Location, Subscription Type, Engagement Score, and Monthly Fee (25% holdout test set).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343400" y="1463040"/>
          <a:ext cx="74066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/>
          <p:nvPr/>
        </p:nvSpPr>
        <p:spPr>
          <a:xfrm>
            <a:off x="4343400" y="60807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teal = reduces churn risk</a:t>
            </a: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150" b="1" dirty="0">
                <a:solidFill>
                  <a:srgbClr val="C1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red = increases churn risk</a:t>
            </a:r>
            <a:r>
              <a:rPr lang="en-US" sz="1150" i="1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Engagement dominates every other factor combined.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974 active subscribers scored — 34 need attention now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6304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023E40"/>
          </a:solidFill>
          <a:ln/>
        </p:spPr>
      </p:sp>
      <p:pic>
        <p:nvPicPr>
          <p:cNvPr id="6" name="Image 0" descr="/home/claude/boxify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7373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9440" y="1764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in the High-Risk Tier?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46520" y="24963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5"/>
          <p:cNvSpPr/>
          <p:nvPr/>
        </p:nvSpPr>
        <p:spPr>
          <a:xfrm>
            <a:off x="6647688" y="23317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Skews heavily Basic-tier, engagement scores under 30, and concentrated in the South region.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46520" y="333756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7"/>
          <p:cNvSpPr/>
          <p:nvPr/>
        </p:nvSpPr>
        <p:spPr>
          <a:xfrm>
            <a:off x="6647688" y="31729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 probability above 66% — these are the customers most likely to cancel next cycle without intervention.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46520" y="417880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9"/>
          <p:cNvSpPr/>
          <p:nvPr/>
        </p:nvSpPr>
        <p:spPr>
          <a:xfrm>
            <a:off x="6647688" y="401421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Medium-risk (313 customers, engagement 30–60) is the largest group and the best target for proactive engagement nudges before they slide into high risk.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46520" y="502005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1"/>
          <p:cNvSpPr/>
          <p:nvPr/>
        </p:nvSpPr>
        <p:spPr>
          <a:xfrm>
            <a:off x="6647688" y="485546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export this list weekly and route to a targeted win-back workflow (email + in-app + offer).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 and long-term plays to cut churn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boxify/icons/heart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10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 (0–3 months)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244144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26771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re-engagement email/push flow for the 313 medium-risk customers — personalized box previews and “we miss you” nudges.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282696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1089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or offer a discount to the 34 active high-risk accounts before their next renewal date.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123944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95020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low-cost engagement nudge to Basic-tier onboarding (first 60 days), where churn risk is highest.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965192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79145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a skip-a-month option instead of cancel — capture subscribers who just need a pause.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72200" y="150876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023E40"/>
          </a:solidFill>
          <a:ln/>
        </p:spPr>
      </p:sp>
      <p:pic>
        <p:nvPicPr>
          <p:cNvPr id="16" name="Image 1" descr="/home/claude/boxify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830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1810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Strategy (this year)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92240" y="244144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5"/>
          <p:cNvSpPr/>
          <p:nvPr/>
        </p:nvSpPr>
        <p:spPr>
          <a:xfrm>
            <a:off x="6720840" y="226771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engagement score into a live weekly risk-scoring pipeline (same logistic model) so at-risk customers surface automatically.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328269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3108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Basic tier — add a light personalization or loyalty perk to close the engagement gap with Standard/Premium.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92240" y="412394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9502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loyalty/rewards program tied to tenure milestones (3, 6, 12 months) to push past the 6-month cancellation cliff.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496519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4791456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South region operationally (shipping delays, product-market fit) given its consistently higher churn.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 early, retain longer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boxify/icons/activit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4414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31343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 is the #1 churn predictor — build retention around it, not demographics.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claude/boxify/icons/userx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2186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09067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Basic-tier and low-engagement customers drive most cancellations — target them first.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boxify/icons/doll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995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86791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$97.8K in lifetime revenue is already lost; a 5-point churn cut protects ~$14K/year.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3" descr="/home/claude/boxify/icons/repea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77316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64515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customers weekly and route medium/high risk into an automated win-back flow.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dataset, model outputs, and customer-level risk scores available in boxify_customers.csv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986</Words>
  <Application>Microsoft Office PowerPoint</Application>
  <PresentationFormat>Widescreen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rantej singh</cp:lastModifiedBy>
  <cp:revision>4</cp:revision>
  <dcterms:created xsi:type="dcterms:W3CDTF">2026-08-09T04:11:39Z</dcterms:created>
  <dcterms:modified xsi:type="dcterms:W3CDTF">2026-08-11T04:56:04Z</dcterms:modified>
</cp:coreProperties>
</file>