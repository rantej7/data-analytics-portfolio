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61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E8944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023360"/>
            <a:ext cx="5120640" cy="5120640"/>
          </a:xfrm>
          <a:prstGeom prst="ellipse">
            <a:avLst/>
          </a:prstGeom>
          <a:solidFill>
            <a:srgbClr val="C643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944A"/>
                </a:solidFill>
              </a:rPr>
              <a:t>PROFITABILITY &amp; PRICING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TastyBites: Fixing the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Behind the Orders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8D9CC"/>
                </a:solidFill>
              </a:rPr>
              <a:t>A 2-year review of orders, discounts and margins to sharpen pricing and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8D9CC"/>
                </a:solidFill>
              </a:rPr>
              <a:t>promotion strategy without losing customers.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Discounts Are Quietly Eating the Margin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5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73152"/>
          </a:xfrm>
          <a:prstGeom prst="rect">
            <a:avLst/>
          </a:prstGeom>
          <a:solidFill>
            <a:srgbClr val="7A24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620"/>
                </a:solidFill>
              </a:rPr>
              <a:t>2-Year Revenue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479"/>
                </a:solidFill>
              </a:rPr>
              <a:t>69,655 orders across 37 items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5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801368"/>
            <a:ext cx="457200" cy="73152"/>
          </a:xfrm>
          <a:prstGeom prst="rect">
            <a:avLst/>
          </a:prstGeom>
          <a:solidFill>
            <a:srgbClr val="4E7A51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984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7A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93592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620"/>
                </a:solidFill>
              </a:rPr>
              <a:t>Overall Profit Margin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93592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479"/>
                </a:solidFill>
              </a:rPr>
              <a:t>$3.85M total profit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5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01368"/>
            <a:ext cx="457200" cy="73152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84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64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$531K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55664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620"/>
                </a:solidFill>
              </a:rPr>
              <a:t>Profit Lost to Discounts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479"/>
                </a:solidFill>
              </a:rPr>
              <a:t>12.1% of potential profit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5F1E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36024" y="1801368"/>
            <a:ext cx="457200" cy="73152"/>
          </a:xfrm>
          <a:prstGeom prst="rect">
            <a:avLst/>
          </a:prstGeom>
          <a:solidFill>
            <a:srgbClr val="E8944A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984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$173.50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17736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620"/>
                </a:solidFill>
              </a:rPr>
              <a:t>Average Order Value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17736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479"/>
                </a:solidFill>
              </a:rPr>
              <a:t>fairly consistent across all 6 cities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620"/>
                </a:solidFill>
              </a:rPr>
              <a:t>Margin erodes almost linearly with discount depth: orders with no discount run a 37% margin; orders discounted 20-25% run close to break-even. A handful of high-volume items (Cheese Burger, Family Feast Combo, Paneer Tikka, Chocolate Brownie) sell extremely well but contribute very little profit — they're funding volume, not the bottom line.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E9E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03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E7A51"/>
                </a:solidFill>
              </a:rPr>
              <a:t>METHOD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8479"/>
                </a:solidFill>
              </a:rPr>
              <a:t>2 years (Aug 2024–Jul 2026) of order-line data across 37 products / 8 categories / 6 cities. Category labels standardized; missing discount values imputed at the product level; discounts capped at the 25% policy ceiling as a data-quality check.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Analysis, Why 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620"/>
                </a:solidFill>
              </a:rPr>
              <a:t>Some products drive huge order volumes but barely move the profit needle, while others quietly generate strong margins at lower volume. Management wants pricing and promotions tuned to grow profit — not just orders — without scaring customers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4E7A5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2426"/>
                </a:solidFill>
              </a:rPr>
              <a:t>Separate signal from noise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479"/>
                </a:solidFill>
              </a:rPr>
              <a:t>Identify which products/categories actually drive profit vs. just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4E7A5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2426"/>
                </a:solidFill>
              </a:rPr>
              <a:t>Quantify discount cost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1788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479"/>
                </a:solidFill>
              </a:rPr>
              <a:t>Measure how discount depth translates into margin loss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4E7A5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8006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2426"/>
                </a:solidFill>
              </a:rPr>
              <a:t>Recommend action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1389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8479"/>
                </a:solidFill>
              </a:rPr>
              <a:t>Target price and promo adjustments that protect volume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60020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7A2426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944A"/>
                </a:solidFill>
              </a:rPr>
              <a:t>KPIs TRACKED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2368296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Revenue per Product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26680" y="2935224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2807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Profit Margin per Product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26680" y="3502152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3374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Units Sold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4069080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39410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Discount Impact (profit loss)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26680" y="4636008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Contribution to Total Profit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26680" y="5202936"/>
            <a:ext cx="128016" cy="128016"/>
          </a:xfrm>
          <a:prstGeom prst="rect">
            <a:avLst/>
          </a:prstGeom>
          <a:solidFill>
            <a:srgbClr val="C6432B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Average Order Value (AOV)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C8479"/>
                </a:solidFill>
              </a:rPr>
              <a:t>CONSTRAINTS: discounts capped at 25%; customers price-sensitive above 10% increases; profit = revenue − cost (delivery excluded).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CATEGORY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Leaders Aren't Always Profit Leaders</a:t>
            </a:r>
            <a:endParaRPr lang="en-US" sz="2700" dirty="0"/>
          </a:p>
        </p:txBody>
      </p:sp>
      <p:pic>
        <p:nvPicPr>
          <p:cNvPr id="4" name="Image 0" descr="/home/claude/tastybites/charts/01_revenue_profit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0408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46304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5F1EC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432B"/>
                </a:solidFill>
              </a:rPr>
              <a:t>READING THE GAP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Fast Food leads on revenue ($2.57M) but ranks near the bottom on margin (19.6%) — it's the biggest revenue-profit gap in the portfolio.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Main Course is smaller in revenue but delivers the highest profit share (26.1%) thanks to a 49% margin.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4160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83880" y="4160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Beverages combine solid revenue and a healthy 36% margin — a genuinely strong category, not just a volume driver.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DISCOUNT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5 Points of Discount Costs ~6-8 Points of Margin</a:t>
            </a:r>
            <a:endParaRPr lang="en-US" sz="2700" dirty="0"/>
          </a:p>
        </p:txBody>
      </p:sp>
      <p:pic>
        <p:nvPicPr>
          <p:cNvPr id="4" name="Image 0" descr="/home/claude/tastybites/charts/03_discount_vs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74980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4173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5F1EC"/>
          </a:solidFill>
          <a:ln/>
        </p:spPr>
      </p:sp>
      <p:sp>
        <p:nvSpPr>
          <p:cNvPr id="6" name="Text 3"/>
          <p:cNvSpPr/>
          <p:nvPr/>
        </p:nvSpPr>
        <p:spPr>
          <a:xfrm>
            <a:off x="8211312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432B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11312" y="1920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</a:rPr>
              <a:t>Undiscounted orders run a 37% margin. By the 20–25% discount band — the policy ceiling — average margin has collapsed to just 1%, essentially break-even.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11312" y="3291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620"/>
                </a:solidFill>
              </a:rPr>
              <a:t>Deep discounts (15%+) drive only a modest volume lift versus the 5-10% band, but destroy nearly all the margin — the trade-off stops paying off well before the policy cap.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11312" y="4617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C8479"/>
                </a:solidFill>
              </a:rPr>
              <a:t>Total profit forfeited to discounting over 2 years: $531K (12.1% of potential profit).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HIGH-PROFIT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Set of Items Drives Outsized Profit</a:t>
            </a:r>
            <a:endParaRPr lang="en-US" sz="2700" dirty="0"/>
          </a:p>
        </p:txBody>
      </p:sp>
      <p:pic>
        <p:nvPicPr>
          <p:cNvPr id="4" name="Image 0" descr="/home/claude/tastybites/charts/04_top_profit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0408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46304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5F1EC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E7A51"/>
                </a:solidFill>
              </a:rPr>
              <a:t>WHAT STANDS OUT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A51"/>
                </a:solidFill>
              </a:rPr>
              <a:t>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Masala Chai and Chicken Biryani alone contribute over 15% of total company profit, at 52%+ margins.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A51"/>
                </a:solidFill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Chicken Wrap sells the most among the top-10 profit list (5,235 units) but its margin (20%) is far thinner — worth protecting from further discounting.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4160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A51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83880" y="4160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Main Course and Beverages products dominate this list — reinforcing they're the categories to protect and grow.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SELLS A LOT, PROFITS LITTLE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Products Are Classic "Volume Traps"</a:t>
            </a:r>
            <a:endParaRPr lang="en-US" sz="2700" dirty="0"/>
          </a:p>
        </p:txBody>
      </p:sp>
      <p:pic>
        <p:nvPicPr>
          <p:cNvPr id="4" name="Image 0" descr="/home/claude/tastybites/charts/05_volume_tr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2237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46304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5F1E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45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432B"/>
                </a:solidFill>
              </a:rPr>
              <a:t>WHAT'S GOING 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20574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Cheese Burger and Family Feast Combo are the top-2 sellers in the entire catalog by units — but both run margins near 12-13%.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8046720" y="3154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21040" y="315468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These items sit in the top third for volume and bottom third for margin — moderate discounting (6-10% avg) plus already-thin base pricing.</a:t>
            </a:r>
            <a:endParaRPr lang="en-US" sz="1070" dirty="0"/>
          </a:p>
        </p:txBody>
      </p:sp>
      <p:sp>
        <p:nvSpPr>
          <p:cNvPr id="11" name="Text 8"/>
          <p:cNvSpPr/>
          <p:nvPr/>
        </p:nvSpPr>
        <p:spPr>
          <a:xfrm>
            <a:off x="8046720" y="4251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432B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21040" y="425196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They shouldn't be cut — they likely drive traffic and cart size — but they're strong candidates for a modest price increase or reduced discount depth rather than further promotion.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PRODUCT PORTFOLIO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Product Sits: Margin vs. Revenue</a:t>
            </a:r>
            <a:endParaRPr lang="en-US" sz="2700" dirty="0"/>
          </a:p>
        </p:txBody>
      </p:sp>
      <p:pic>
        <p:nvPicPr>
          <p:cNvPr id="4" name="Image 0" descr="/home/claude/tastybites/charts/08_portfolio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804672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7A2426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44A"/>
                </a:solidFill>
              </a:rPr>
              <a:t>QUADRANT GUIDE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0982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44A"/>
                </a:solidFill>
              </a:rPr>
              <a:t>Top-right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098280" y="21762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EFDCC9"/>
                </a:solidFill>
              </a:rPr>
              <a:t>Stars — high revenue, strong margin. Protect and promote.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9098280" y="30358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44A"/>
                </a:solidFill>
              </a:rPr>
              <a:t>Top-left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098280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EFDCC9"/>
                </a:solidFill>
              </a:rPr>
              <a:t>Volume traps — high revenue, weak margin. Trim discounts / nudge price.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9098280" y="4151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44A"/>
                </a:solidFill>
              </a:rPr>
              <a:t>Bottom-right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98280" y="44074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EFDCC9"/>
                </a:solidFill>
              </a:rPr>
              <a:t>Niche premium — lower revenue, high margin. Good bundling candidates.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9098280" y="52669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44A"/>
                </a:solidFill>
              </a:rPr>
              <a:t>Bottom-left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098280" y="55229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EFDCC9"/>
                </a:solidFill>
              </a:rPr>
              <a:t>Underperformers — low revenue, low margin. Reassess or retire.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 and Long-Term Strategy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1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6432B"/>
                </a:solidFill>
              </a:rPr>
              <a:t>QUICK WINS (0–90 DAYS)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46304" cy="146304"/>
          </a:xfrm>
          <a:prstGeom prst="ellipse">
            <a:avLst/>
          </a:prstGeom>
          <a:solidFill>
            <a:srgbClr val="C6432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574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Cap discounts on Cheese Burger, Family Feast Combo, Paneer Tikka &amp; Chocolate Brownie at 5% — margin gains outweigh the modest volume risk (customers are only price-sensitive above 10%).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777240" y="3163824"/>
            <a:ext cx="146304" cy="146304"/>
          </a:xfrm>
          <a:prstGeom prst="ellipse">
            <a:avLst/>
          </a:prstGeom>
          <a:solidFill>
            <a:srgbClr val="C6432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4495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Promote high-margin winners (Masala Chai, Chicken Biryani, Paneer Butter Masala) harder in-app instead of discounting Fast Food items further.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777240" y="4151376"/>
            <a:ext cx="146304" cy="146304"/>
          </a:xfrm>
          <a:prstGeom prst="ellipse">
            <a:avLst/>
          </a:prstGeom>
          <a:solidFill>
            <a:srgbClr val="C643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3250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Bundle niche-premium, low-volume items with top sellers to lift their exposure without discounting them directly.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777240" y="5138928"/>
            <a:ext cx="146304" cy="146304"/>
          </a:xfrm>
          <a:prstGeom prst="ellipse">
            <a:avLst/>
          </a:prstGeom>
          <a:solidFill>
            <a:srgbClr val="C643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2B2620"/>
                </a:solidFill>
              </a:rPr>
              <a:t>Set a discount ceiling of 10-12% as a soft internal guideline — the data shows returns turn negative well before the 25% policy cap.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7A24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944A"/>
                </a:solidFill>
              </a:rPr>
              <a:t>LONG-TERM STRATEGY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176272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574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FFFFFF"/>
                </a:solidFill>
              </a:rPr>
              <a:t>Introduce category-level discount governance: Fast Food &amp; Combos need tighter limits than Main Course &amp; Bakery, which already protect margin well.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04495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FFFFFF"/>
                </a:solidFill>
              </a:rPr>
              <a:t>Test a 5-8% price increase on steady, low-discount sellers (Chicken Biryani, Lunch Box Combo) — both sell consistently with minimal promo reliance, signaling room to move price.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400800" y="4151376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03250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FFFFFF"/>
                </a:solidFill>
              </a:rPr>
              <a:t>Shift promotional spend from blanket discounts toward combo/bundle pricing that raises basket size (AOV) instead of cutting per-item margin.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400800" y="5138928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 dirty="0">
                <a:solidFill>
                  <a:srgbClr val="FFFFFF"/>
                </a:solidFill>
              </a:rPr>
              <a:t>Build a quarterly product review using the margin-vs-revenue map to systematically reposition or retire bottom-left underperformers.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432B"/>
                </a:solidFill>
              </a:rPr>
              <a:t>WHERE PROFIT SHOWS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2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Profit Share &amp; Next Steps</a:t>
            </a:r>
            <a:endParaRPr lang="en-US" sz="2700" dirty="0"/>
          </a:p>
        </p:txBody>
      </p:sp>
      <p:pic>
        <p:nvPicPr>
          <p:cNvPr id="4" name="Image 0" descr="/home/claude/tastybites/charts/06_profit_shar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57784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5F1EC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6276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6432B"/>
                </a:solidFill>
              </a:rPr>
              <a:t>NEXT STEPS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0" y="2103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2426"/>
                </a:solidFill>
              </a:rPr>
              <a:t>1. Pilot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0" y="23957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Cap discounts on the 6 volume-trap SKUs in 2 cities for 60 days; track units sold and margin weekly.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3063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2426"/>
                </a:solidFill>
              </a:rPr>
              <a:t>2. Reprice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0" y="33558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Raise price 5-8% on the 3-4 lowest-discount, highest-volume steady sellers identified as low-elasticity risk.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4023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2426"/>
                </a:solidFill>
              </a:rPr>
              <a:t>3. Rebalance promos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0" y="43159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Redirect the freed-up discount budget into bundles built around high-margin Main Course &amp; Beverages items.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49834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2426"/>
                </a:solidFill>
              </a:rPr>
              <a:t>4. Review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0" y="52760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B2620"/>
                </a:solidFill>
              </a:rPr>
              <a:t>Re-run this analysis quarterly to track whether margin recovers without an order-volume drop.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479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1098</Words>
  <Application>Microsoft Office PowerPoint</Application>
  <PresentationFormat>Widescreen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rantej singh</cp:lastModifiedBy>
  <cp:revision>2</cp:revision>
  <dcterms:created xsi:type="dcterms:W3CDTF">2026-08-09T04:10:42Z</dcterms:created>
  <dcterms:modified xsi:type="dcterms:W3CDTF">2026-08-11T04:59:00Z</dcterms:modified>
</cp:coreProperties>
</file>