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E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2A2E"/>
                </a:solidFill>
                <a:latin typeface="Calibri"/>
              </a:rPr>
              <a:t>ROI by Channel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Influencer</c:v>
                </c:pt>
                <c:pt idx="2">
                  <c:v>Local Events</c:v>
                </c:pt>
                <c:pt idx="3">
                  <c:v>Social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214.4</c:v>
                </c:pt>
                <c:pt idx="1">
                  <c:v>81.5</c:v>
                </c:pt>
                <c:pt idx="2">
                  <c:v>28</c:v>
                </c:pt>
                <c:pt idx="3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8-EA4C-B363-C0FBC525A0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E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2A2E"/>
                </a:solidFill>
                <a:latin typeface="Calibri"/>
              </a:rPr>
              <a:t>Cost per Acquisition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 $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Influencer</c:v>
                </c:pt>
                <c:pt idx="2">
                  <c:v>Local Events</c:v>
                </c:pt>
                <c:pt idx="3">
                  <c:v>Social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28.3</c:v>
                </c:pt>
                <c:pt idx="2">
                  <c:v>42.4</c:v>
                </c:pt>
                <c:pt idx="3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C-094E-80F9-607510BEBF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3F7A5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Loyalty Newsletter (Email)</c:v>
                </c:pt>
                <c:pt idx="1">
                  <c:v>Flash Sale Blast (Email) A</c:v>
                </c:pt>
                <c:pt idx="2">
                  <c:v>Welcome Series Revamp (Email)</c:v>
                </c:pt>
                <c:pt idx="3">
                  <c:v>Abandoned Cart Flow (Email)</c:v>
                </c:pt>
                <c:pt idx="4">
                  <c:v>Flash Sale Blast (Email) B</c:v>
                </c:pt>
                <c:pt idx="5">
                  <c:v>UGC Creator Pack (Influencer)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595.79999999999995</c:v>
                </c:pt>
                <c:pt idx="1">
                  <c:v>591.6</c:v>
                </c:pt>
                <c:pt idx="2">
                  <c:v>473.8</c:v>
                </c:pt>
                <c:pt idx="3">
                  <c:v>437.5</c:v>
                </c:pt>
                <c:pt idx="4">
                  <c:v>358.9</c:v>
                </c:pt>
                <c:pt idx="5">
                  <c:v>320.60000000000002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C-674A-A634-BA3B8BFD05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Pinterest Boost (Social)</c:v>
                </c:pt>
                <c:pt idx="1">
                  <c:v>Holiday Market Booth (Events)</c:v>
                </c:pt>
                <c:pt idx="2">
                  <c:v>IG Reels Push (Social) A</c:v>
                </c:pt>
                <c:pt idx="3">
                  <c:v>Loyalty Newsletter (Email) B</c:v>
                </c:pt>
                <c:pt idx="4">
                  <c:v>FB Carousel Ads (Social)</c:v>
                </c:pt>
                <c:pt idx="5">
                  <c:v>IG Reels Push (Social) 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-54.6</c:v>
                </c:pt>
                <c:pt idx="1">
                  <c:v>-60.4</c:v>
                </c:pt>
                <c:pt idx="2">
                  <c:v>-63.8</c:v>
                </c:pt>
                <c:pt idx="3">
                  <c:v>-65.400000000000006</c:v>
                </c:pt>
                <c:pt idx="4">
                  <c:v>-79.2</c:v>
                </c:pt>
                <c:pt idx="5">
                  <c:v>-79.3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8B-4448-9566-D8681865FC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E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2A2E"/>
                </a:solidFill>
                <a:latin typeface="Calibri"/>
              </a:rPr>
              <a:t>Leads Generated (flagged campaigns)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 Generated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Spa Partner Day A</c:v>
                </c:pt>
                <c:pt idx="1">
                  <c:v>Spa Partner Day B</c:v>
                </c:pt>
                <c:pt idx="2">
                  <c:v>YouTube Review Series A</c:v>
                </c:pt>
                <c:pt idx="3">
                  <c:v>Mall Pop-Up</c:v>
                </c:pt>
                <c:pt idx="4">
                  <c:v>YouTube Review Series B</c:v>
                </c:pt>
                <c:pt idx="5">
                  <c:v>Loyalty Newsletter</c:v>
                </c:pt>
                <c:pt idx="6">
                  <c:v>Flash Sale Blast</c:v>
                </c:pt>
                <c:pt idx="7">
                  <c:v>Holiday Market Booth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12333</c:v>
                </c:pt>
                <c:pt idx="1">
                  <c:v>11833</c:v>
                </c:pt>
                <c:pt idx="2">
                  <c:v>6294</c:v>
                </c:pt>
                <c:pt idx="3">
                  <c:v>4950</c:v>
                </c:pt>
                <c:pt idx="4">
                  <c:v>3058</c:v>
                </c:pt>
                <c:pt idx="5">
                  <c:v>3205</c:v>
                </c:pt>
                <c:pt idx="6">
                  <c:v>2565</c:v>
                </c:pt>
                <c:pt idx="7">
                  <c:v>2688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D-B944-84A2-E3AB019053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ln w="38100" cap="flat">
              <a:solidFill>
                <a:srgbClr val="6D2E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2A2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Aug'25</c:v>
                </c:pt>
                <c:pt idx="1">
                  <c:v>Sep'25</c:v>
                </c:pt>
                <c:pt idx="2">
                  <c:v>Oct'25</c:v>
                </c:pt>
                <c:pt idx="3">
                  <c:v>Nov'25</c:v>
                </c:pt>
                <c:pt idx="4">
                  <c:v>Dec'25</c:v>
                </c:pt>
                <c:pt idx="5">
                  <c:v>Jan'26</c:v>
                </c:pt>
                <c:pt idx="6">
                  <c:v>Feb'26</c:v>
                </c:pt>
                <c:pt idx="7">
                  <c:v>Mar'26</c:v>
                </c:pt>
                <c:pt idx="8">
                  <c:v>Apr'26</c:v>
                </c:pt>
                <c:pt idx="9">
                  <c:v>May'26</c:v>
                </c:pt>
                <c:pt idx="10">
                  <c:v>Jun'26</c:v>
                </c:pt>
                <c:pt idx="11">
                  <c:v>Jul'26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-20</c:v>
                </c:pt>
                <c:pt idx="1">
                  <c:v>131.4</c:v>
                </c:pt>
                <c:pt idx="2">
                  <c:v>86.3</c:v>
                </c:pt>
                <c:pt idx="3">
                  <c:v>208.6</c:v>
                </c:pt>
                <c:pt idx="4">
                  <c:v>160.19999999999999</c:v>
                </c:pt>
                <c:pt idx="5">
                  <c:v>14.3</c:v>
                </c:pt>
                <c:pt idx="6">
                  <c:v>24.8</c:v>
                </c:pt>
                <c:pt idx="7">
                  <c:v>102.4</c:v>
                </c:pt>
                <c:pt idx="8">
                  <c:v>75.3</c:v>
                </c:pt>
                <c:pt idx="9">
                  <c:v>138.19999999999999</c:v>
                </c:pt>
                <c:pt idx="10">
                  <c:v>34.9</c:v>
                </c:pt>
                <c:pt idx="11">
                  <c:v>41.9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0E-5043-A15C-6D6BB382D51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3C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7A72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8A7A72"/>
                    </a:solidFill>
                    <a:latin typeface="Arial"/>
                  </a:rPr>
                  <a:t>ROI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E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2A2E"/>
                </a:solidFill>
                <a:latin typeface="Calibri"/>
              </a:rPr>
              <a:t>Current Allocation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18-442E-8D54-ED0320349920}"/>
              </c:ext>
            </c:extLst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18-442E-8D54-ED0320349920}"/>
              </c:ext>
            </c:extLst>
          </c:dPt>
          <c:dPt>
            <c:idx val="2"/>
            <c:bubble3D val="0"/>
            <c:spPr>
              <a:solidFill>
                <a:srgbClr val="C9A9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18-442E-8D54-ED0320349920}"/>
              </c:ext>
            </c:extLst>
          </c:dPt>
          <c:dPt>
            <c:idx val="3"/>
            <c:bubble3D val="0"/>
            <c:spPr>
              <a:solidFill>
                <a:srgbClr val="5B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18-442E-8D54-ED0320349920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18-442E-8D54-ED0320349920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18-442E-8D54-ED0320349920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18-442E-8D54-ED0320349920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18-442E-8D54-ED0320349920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Influencer</c:v>
                </c:pt>
                <c:pt idx="2">
                  <c:v>Local Events</c:v>
                </c:pt>
                <c:pt idx="3">
                  <c:v>Social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26</c:v>
                </c:pt>
                <c:pt idx="2">
                  <c:v>25</c:v>
                </c:pt>
                <c:pt idx="3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1-B34A-A864-00445D32F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A2E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2A2E"/>
                </a:solidFill>
                <a:latin typeface="Calibri"/>
              </a:rPr>
              <a:t>Proposed Next Quarter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2F-44C4-AB83-CF3FE323C1F7}"/>
              </c:ext>
            </c:extLst>
          </c:dPt>
          <c:dPt>
            <c:idx val="1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2F-44C4-AB83-CF3FE323C1F7}"/>
              </c:ext>
            </c:extLst>
          </c:dPt>
          <c:dPt>
            <c:idx val="2"/>
            <c:bubble3D val="0"/>
            <c:spPr>
              <a:solidFill>
                <a:srgbClr val="C9A9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2F-44C4-AB83-CF3FE323C1F7}"/>
              </c:ext>
            </c:extLst>
          </c:dPt>
          <c:dPt>
            <c:idx val="3"/>
            <c:bubble3D val="0"/>
            <c:spPr>
              <a:solidFill>
                <a:srgbClr val="5B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2F-44C4-AB83-CF3FE323C1F7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2F-44C4-AB83-CF3FE323C1F7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2F-44C4-AB83-CF3FE323C1F7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2F-44C4-AB83-CF3FE323C1F7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2F-44C4-AB83-CF3FE323C1F7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Influencer</c:v>
                </c:pt>
                <c:pt idx="2">
                  <c:v>Local Events</c:v>
                </c:pt>
                <c:pt idx="3">
                  <c:v>Social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1-8342-B778-6B7CED2F1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B56A1-94E1-B34C-84ED-7A7A4A63DA4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4CA84-BEAB-4946-9494-49E3C31BA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6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A26769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GLOWUP  •  BEAUTY &amp; SKINCARE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 ROI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review of social, influencer, email, and local-event campaigns —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data-driven budget recommendations for next quarter.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188720" cy="0"/>
          </a:xfrm>
          <a:prstGeom prst="line">
            <a:avLst/>
          </a:prstGeom>
          <a:noFill/>
          <a:ln w="381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Aug 2025 – Jul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full-year picture,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glowup/icons/dollar_6D2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219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$350.3K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6704" y="16002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glowup/icons/trendup_6D2E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9584" y="22219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$615.9K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529584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44768" y="16002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glowup/icons/pie_6D2E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8013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27648" y="22219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+75.8%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327648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ROI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42832" y="16002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/home/claude/glowup/icons/target_6D2E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8013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5712" y="22219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$30.70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9125712" y="27432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94360" y="4005072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385876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the standout channel — 214% ROI and just $18.20 cost per acquisition, despite receiving the smallest budget share (20%).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94360" y="4572000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4425696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absorbed the largest budget (29%) but returned the lowest ROI (17%) and highest CPA ($44.30).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94360" y="5138928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992624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“high-traffic, low-conversion” campaigns — notably Spa Partner Day — generated big lead volume but converted below 1%.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94360" y="5705856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555955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Reallocating spend toward Email and Influencer channels could lift portfolio ROI without increasing total budget.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data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CE2D0"/>
          </a:solidFill>
          <a:ln/>
        </p:spPr>
      </p:sp>
      <p:pic>
        <p:nvPicPr>
          <p:cNvPr id="5" name="Image 0" descr="/home/claude/glowup/icons/compass_6D2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578608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423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effective campaigns by conversions and revenue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081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ROI and CPA for every campaign and channel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895344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7398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high-lead / low-conversion campaigns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553712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3982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quarter's budget allocation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12080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0566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strategies to lift ROI across the portfolio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4A1F30"/>
          </a:solidFill>
          <a:ln/>
        </p:spPr>
      </p:sp>
      <p:pic>
        <p:nvPicPr>
          <p:cNvPr id="18" name="Image 1" descr="/home/claude/glowup/icons/fl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Assumptions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92240" y="2423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glowup_campaigns.csv  —  63 campaigns, 12 months (Aug 2025–Jul 2026), 4 channels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2880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Campaign_ID   ·   Campaign_Name   ·   Channel   ·   Month   ·   Spend   ·   Impressions   ·   Clicks   ·   Leads   ·   Conversions   ·   Revenue   ·   Likes/Shares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92240" y="3611880"/>
            <a:ext cx="484632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3904488"/>
            <a:ext cx="64008" cy="640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373075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of rows had missing Clicks/Impressions (export gaps) — imputed with each channel's median, not zero.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4526280"/>
            <a:ext cx="64008" cy="640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435254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(Revenue – Spend) / Spend × 100; CPA = Spend / Conversions.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492240" y="5148072"/>
            <a:ext cx="64008" cy="640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8" name="Text 24"/>
          <p:cNvSpPr/>
          <p:nvPr/>
        </p:nvSpPr>
        <p:spPr>
          <a:xfrm>
            <a:off x="6720840" y="497433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modeled from conversions × average order value ($28–$65), reflecting GlowUp's price range.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492240" y="5769864"/>
            <a:ext cx="64008" cy="6400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6"/>
          <p:cNvSpPr/>
          <p:nvPr/>
        </p:nvSpPr>
        <p:spPr>
          <a:xfrm>
            <a:off x="6720840" y="559612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window fixed at the trailing 12 months per data availability.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leads on ROI; Social Media lags on efficiency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converts leads at the lowest cost and highest return; Social Media and Local Events cost 2–2.5× more per customer acquired.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CAMPAIGN-LEVEL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and worst performing campaigns by ROI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BY ROI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6 BY ROI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04069242"/>
              </p:ext>
            </p:extLst>
          </p:nvPr>
        </p:nvGraphicFramePr>
        <p:xfrm>
          <a:off x="5943600" y="164592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lead volume doesn't guarantee conversions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417320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4A1F30"/>
          </a:solidFill>
          <a:ln/>
        </p:spPr>
      </p:sp>
      <p:pic>
        <p:nvPicPr>
          <p:cNvPr id="6" name="Image 0" descr="/home/claude/glowup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880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680960" y="2404872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9" name="Text 5"/>
          <p:cNvSpPr/>
          <p:nvPr/>
        </p:nvSpPr>
        <p:spPr>
          <a:xfrm>
            <a:off x="7882128" y="22402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Partner Day converts at just 0.4–0.6% — event foot traffic signs up for samples but rarely purchases on the spot.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80960" y="3246120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7"/>
          <p:cNvSpPr/>
          <p:nvPr/>
        </p:nvSpPr>
        <p:spPr>
          <a:xfrm>
            <a:off x="7882128" y="30815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Review Series drives broad awareness leads, but audiences are mid-funnel, not purchase-ready.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80960" y="4087368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9"/>
          <p:cNvSpPr/>
          <p:nvPr/>
        </p:nvSpPr>
        <p:spPr>
          <a:xfrm>
            <a:off x="7882128" y="392277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campaigns are valuable for list-building and brand reach — but need a stronger follow-up offer (retargeting email/SMS) to convert.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80960" y="4928616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5" name="Text 11"/>
          <p:cNvSpPr/>
          <p:nvPr/>
        </p:nvSpPr>
        <p:spPr>
          <a:xfrm>
            <a:off x="7882128" y="476402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high-lead channels with an Email nurture sequence could lift conversion 2–3× based on portfolio benchmarks.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swings sharply by month — timing matters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92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season (Nov–Dec) and Sep/May promotional pushes delivered the strongest ROI; Aug and Jan–Feb underperform, suggesting off-season spend should be trimmed or re-timed.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Q3 budget: shift spend toward Email &amp; Influencer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6304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52160" y="146304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68756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Email (+15pts) and Influencer (+4pts) deliver the strongest ROI and lowest CPA; Local Events (–10pts) and Social Media (–9pts) are trimmed but retained for brand reach, not eliminated.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and long-term plays to improve ROI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glowup/icons/zap_6D2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(0–3 months)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441448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2677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Email flows (Flash Sale, Abandoned Cart, Welcome Series) — proven 350%+ ROI, low cost to expand.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282696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089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or redesign underperforming Social ads (IG Reels Push, FB Carousel, Pinterest Boost) — all posted negative ROI.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123944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9502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email/SMS retargeting flow after Spa Partner Day and YouTube Review Series to convert warm leads.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965192"/>
            <a:ext cx="73152" cy="7315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79145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Social/Local spend out of Aug and Jan–Feb into Sep–Dec and May, the highest-ROI months.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72200" y="150876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4A1F30"/>
          </a:solidFill>
          <a:ln/>
        </p:spPr>
      </p:sp>
      <p:pic>
        <p:nvPicPr>
          <p:cNvPr id="16" name="Image 1" descr="/home/claude/glowup/icons/comp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1810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Strategy (this year)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92240" y="2441448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Text 15"/>
          <p:cNvSpPr/>
          <p:nvPr/>
        </p:nvSpPr>
        <p:spPr>
          <a:xfrm>
            <a:off x="6720840" y="22677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annual budget toward Email (35%) and Influencer (30%) per the reallocation model.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282696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mid-tier influencers over celebrity collabs — lower spend per campaign, comparable conversion lift.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4123944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9502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audience segmentation for Local Events so follow-up offers match what attendees sampled.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965192"/>
            <a:ext cx="73152" cy="7315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79145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quarterly ROI dashboard so channel mix can be adjusted continuously, not just annually.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smarter, not more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/home/claude/glowup/icons/mai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4414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1343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GlowUp's highest-ROI channel — protect and grow it first.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/home/claude/glowup/icons/trenddow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2186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906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spend on chronically negative-ROI Social campaigns before scaling anything new.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2" descr="/home/claude/glowup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995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86791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high-lead, low-conversion traffic with better nurture, not more top-of-funnel spend.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5" name="Image 3" descr="/home/claude/glowup/icons/calend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77316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64515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 to the calendar — Sep–Dec and May consistently outperform.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188720" cy="0"/>
          </a:xfrm>
          <a:prstGeom prst="line">
            <a:avLst/>
          </a:prstGeom>
          <a:noFill/>
          <a:ln w="38100">
            <a:solidFill>
              <a:srgbClr val="A2676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dataset, calculations, and campaign-level detail available in glowup_campaigns.csv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859</Words>
  <Application>Microsoft Office PowerPoint</Application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rantej singh</cp:lastModifiedBy>
  <cp:revision>3</cp:revision>
  <dcterms:created xsi:type="dcterms:W3CDTF">2026-08-09T03:20:44Z</dcterms:created>
  <dcterms:modified xsi:type="dcterms:W3CDTF">2026-08-10T12:42:01Z</dcterms:modified>
</cp:coreProperties>
</file>