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843602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B2A4A"/>
          </a:solidFill>
          <a:ln/>
        </p:spPr>
      </p:sp>
      <p:sp>
        <p:nvSpPr>
          <p:cNvPr id="3" name="Shape 1"/>
          <p:cNvSpPr/>
          <p:nvPr/>
        </p:nvSpPr>
        <p:spPr>
          <a:xfrm>
            <a:off x="8961120" y="-2011680"/>
            <a:ext cx="6400800" cy="6400800"/>
          </a:xfrm>
          <a:prstGeom prst="ellipse">
            <a:avLst/>
          </a:prstGeom>
          <a:solidFill>
            <a:srgbClr val="1B7F79">
              <a:alpha val="18000"/>
            </a:srgbClr>
          </a:solidFill>
          <a:ln/>
        </p:spPr>
      </p:sp>
      <p:sp>
        <p:nvSpPr>
          <p:cNvPr id="4" name="Shape 2"/>
          <p:cNvSpPr/>
          <p:nvPr/>
        </p:nvSpPr>
        <p:spPr>
          <a:xfrm>
            <a:off x="-2286000" y="4114800"/>
            <a:ext cx="5029200" cy="5029200"/>
          </a:xfrm>
          <a:prstGeom prst="ellipse">
            <a:avLst/>
          </a:prstGeom>
          <a:solidFill>
            <a:srgbClr val="E4572E">
              <a:alpha val="15000"/>
            </a:srgbClr>
          </a:solidFill>
          <a:ln/>
        </p:spPr>
      </p:sp>
      <p:sp>
        <p:nvSpPr>
          <p:cNvPr id="5" name="Text 3"/>
          <p:cNvSpPr/>
          <p:nvPr/>
        </p:nvSpPr>
        <p:spPr>
          <a:xfrm>
            <a:off x="822960" y="1965960"/>
            <a:ext cx="9144000" cy="365760"/>
          </a:xfrm>
          <a:prstGeom prst="rect">
            <a:avLst/>
          </a:prstGeom>
          <a:noFill/>
          <a:ln/>
        </p:spPr>
        <p:txBody>
          <a:bodyPr wrap="square" rtlCol="0" anchor="ctr"/>
          <a:lstStyle/>
          <a:p>
            <a:pPr marL="0" indent="0">
              <a:buNone/>
            </a:pPr>
            <a:r>
              <a:rPr lang="en-US" sz="1400" b="1" kern="0" spc="300" dirty="0">
                <a:solidFill>
                  <a:srgbClr val="E8A33D"/>
                </a:solidFill>
              </a:rPr>
              <a:t>INVENTORY OPTIMIZATION ANALYSIS</a:t>
            </a:r>
            <a:endParaRPr lang="en-US" sz="1400" dirty="0"/>
          </a:p>
        </p:txBody>
      </p:sp>
      <p:sp>
        <p:nvSpPr>
          <p:cNvPr id="6" name="Text 4"/>
          <p:cNvSpPr/>
          <p:nvPr/>
        </p:nvSpPr>
        <p:spPr>
          <a:xfrm>
            <a:off x="822960" y="2331720"/>
            <a:ext cx="10058400" cy="1828800"/>
          </a:xfrm>
          <a:prstGeom prst="rect">
            <a:avLst/>
          </a:prstGeom>
          <a:noFill/>
          <a:ln/>
        </p:spPr>
        <p:txBody>
          <a:bodyPr wrap="square" rtlCol="0" anchor="ctr"/>
          <a:lstStyle/>
          <a:p>
            <a:pPr marL="0" indent="0">
              <a:lnSpc>
                <a:spcPts val="4600"/>
              </a:lnSpc>
              <a:buNone/>
            </a:pPr>
            <a:r>
              <a:rPr lang="en-US" sz="4200" b="1" dirty="0">
                <a:solidFill>
                  <a:srgbClr val="FFFFFF"/>
                </a:solidFill>
                <a:latin typeface="Georgia" pitchFamily="34" charset="0"/>
                <a:ea typeface="Georgia" pitchFamily="34" charset="-122"/>
                <a:cs typeface="Georgia" pitchFamily="34" charset="-120"/>
              </a:rPr>
              <a:t>ToyJoy: Balancing Stock,</a:t>
            </a:r>
            <a:endParaRPr lang="en-US" sz="4200" dirty="0"/>
          </a:p>
          <a:p>
            <a:pPr marL="0" indent="0">
              <a:lnSpc>
                <a:spcPts val="4600"/>
              </a:lnSpc>
              <a:buNone/>
            </a:pPr>
            <a:r>
              <a:rPr lang="en-US" sz="4200" b="1" dirty="0">
                <a:solidFill>
                  <a:srgbClr val="FFFFFF"/>
                </a:solidFill>
                <a:latin typeface="Georgia" pitchFamily="34" charset="0"/>
                <a:ea typeface="Georgia" pitchFamily="34" charset="-122"/>
                <a:cs typeface="Georgia" pitchFamily="34" charset="-120"/>
              </a:rPr>
              <a:t>Seasonality &amp; Demand</a:t>
            </a:r>
            <a:endParaRPr lang="en-US" sz="4200" dirty="0"/>
          </a:p>
        </p:txBody>
      </p:sp>
      <p:sp>
        <p:nvSpPr>
          <p:cNvPr id="7" name="Text 5"/>
          <p:cNvSpPr/>
          <p:nvPr/>
        </p:nvSpPr>
        <p:spPr>
          <a:xfrm>
            <a:off x="822960" y="4160520"/>
            <a:ext cx="8686800" cy="731520"/>
          </a:xfrm>
          <a:prstGeom prst="rect">
            <a:avLst/>
          </a:prstGeom>
          <a:noFill/>
          <a:ln/>
        </p:spPr>
        <p:txBody>
          <a:bodyPr wrap="square" rtlCol="0" anchor="ctr"/>
          <a:lstStyle/>
          <a:p>
            <a:pPr marL="0" indent="0">
              <a:lnSpc>
                <a:spcPts val="2200"/>
              </a:lnSpc>
              <a:buNone/>
            </a:pPr>
            <a:r>
              <a:rPr lang="en-US" sz="1500" i="1" dirty="0">
                <a:solidFill>
                  <a:srgbClr val="C7D0E0"/>
                </a:solidFill>
              </a:rPr>
              <a:t>A data-driven review of 3 years of retail &amp; online sales to reduce overstock,</a:t>
            </a:r>
            <a:endParaRPr lang="en-US" sz="1500" dirty="0"/>
          </a:p>
          <a:p>
            <a:pPr marL="0" indent="0">
              <a:lnSpc>
                <a:spcPts val="2200"/>
              </a:lnSpc>
              <a:buNone/>
            </a:pPr>
            <a:r>
              <a:rPr lang="en-US" sz="1500" i="1" dirty="0">
                <a:solidFill>
                  <a:srgbClr val="C7D0E0"/>
                </a:solidFill>
              </a:rPr>
              <a:t>prevent stockouts, and improve cash flow.</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9144000" cy="274320"/>
          </a:xfrm>
          <a:prstGeom prst="rect">
            <a:avLst/>
          </a:prstGeom>
          <a:noFill/>
          <a:ln/>
        </p:spPr>
        <p:txBody>
          <a:bodyPr wrap="square" rtlCol="0" anchor="ctr"/>
          <a:lstStyle/>
          <a:p>
            <a:pPr marL="0" indent="0">
              <a:buNone/>
            </a:pPr>
            <a:r>
              <a:rPr lang="en-US" sz="1200" b="1" kern="0" spc="200" dirty="0">
                <a:solidFill>
                  <a:srgbClr val="E4572E"/>
                </a:solidFill>
              </a:rPr>
              <a:t>EXECUTIVE SUMMARY</a:t>
            </a:r>
            <a:endParaRPr lang="en-US" sz="1200" dirty="0"/>
          </a:p>
        </p:txBody>
      </p:sp>
      <p:sp>
        <p:nvSpPr>
          <p:cNvPr id="3" name="Text 1"/>
          <p:cNvSpPr/>
          <p:nvPr/>
        </p:nvSpPr>
        <p:spPr>
          <a:xfrm>
            <a:off x="548640" y="594360"/>
            <a:ext cx="10972800" cy="640080"/>
          </a:xfrm>
          <a:prstGeom prst="rect">
            <a:avLst/>
          </a:prstGeom>
          <a:noFill/>
          <a:ln/>
        </p:spPr>
        <p:txBody>
          <a:bodyPr wrap="square" rtlCol="0" anchor="ctr"/>
          <a:lstStyle/>
          <a:p>
            <a:pPr marL="0" indent="0">
              <a:buNone/>
            </a:pPr>
            <a:r>
              <a:rPr lang="en-US" sz="2800" b="1" dirty="0">
                <a:solidFill>
                  <a:srgbClr val="1B2A4A"/>
                </a:solidFill>
                <a:latin typeface="Georgia" pitchFamily="34" charset="0"/>
                <a:ea typeface="Georgia" pitchFamily="34" charset="-122"/>
                <a:cs typeface="Georgia" pitchFamily="34" charset="-120"/>
              </a:rPr>
              <a:t>The Inventory Imbalance, By The Numbers</a:t>
            </a:r>
            <a:endParaRPr lang="en-US" sz="2800" dirty="0"/>
          </a:p>
        </p:txBody>
      </p:sp>
      <p:sp>
        <p:nvSpPr>
          <p:cNvPr id="4" name="Shape 2"/>
          <p:cNvSpPr/>
          <p:nvPr/>
        </p:nvSpPr>
        <p:spPr>
          <a:xfrm>
            <a:off x="548640" y="1600200"/>
            <a:ext cx="2606040" cy="2011680"/>
          </a:xfrm>
          <a:prstGeom prst="roundRect">
            <a:avLst>
              <a:gd name="adj" fmla="val 3636"/>
            </a:avLst>
          </a:prstGeom>
          <a:solidFill>
            <a:srgbClr val="F2F4F7"/>
          </a:solidFill>
          <a:ln/>
          <a:effectLst>
            <a:outerShdw blurRad="76200" dist="25400" dir="5400000" algn="bl" rotWithShape="0">
              <a:srgbClr val="000000">
                <a:alpha val="12000"/>
              </a:srgbClr>
            </a:outerShdw>
          </a:effectLst>
        </p:spPr>
      </p:sp>
      <p:sp>
        <p:nvSpPr>
          <p:cNvPr id="5" name="Shape 3"/>
          <p:cNvSpPr/>
          <p:nvPr/>
        </p:nvSpPr>
        <p:spPr>
          <a:xfrm>
            <a:off x="749808" y="1801368"/>
            <a:ext cx="457200" cy="73152"/>
          </a:xfrm>
          <a:prstGeom prst="rect">
            <a:avLst/>
          </a:prstGeom>
          <a:solidFill>
            <a:srgbClr val="1B2A4A"/>
          </a:solidFill>
          <a:ln/>
        </p:spPr>
      </p:sp>
      <p:sp>
        <p:nvSpPr>
          <p:cNvPr id="6" name="Text 4"/>
          <p:cNvSpPr/>
          <p:nvPr/>
        </p:nvSpPr>
        <p:spPr>
          <a:xfrm>
            <a:off x="731520" y="1984248"/>
            <a:ext cx="2240280" cy="685800"/>
          </a:xfrm>
          <a:prstGeom prst="rect">
            <a:avLst/>
          </a:prstGeom>
          <a:noFill/>
          <a:ln/>
        </p:spPr>
        <p:txBody>
          <a:bodyPr wrap="square" rtlCol="0" anchor="ctr"/>
          <a:lstStyle/>
          <a:p>
            <a:pPr marL="0" indent="0">
              <a:buNone/>
            </a:pPr>
            <a:r>
              <a:rPr lang="en-US" sz="3000" b="1" dirty="0">
                <a:solidFill>
                  <a:srgbClr val="1B2A4A"/>
                </a:solidFill>
                <a:latin typeface="Georgia" pitchFamily="34" charset="0"/>
                <a:ea typeface="Georgia" pitchFamily="34" charset="-122"/>
                <a:cs typeface="Georgia" pitchFamily="34" charset="-120"/>
              </a:rPr>
              <a:t>$8.15M</a:t>
            </a:r>
            <a:endParaRPr lang="en-US" sz="3000" dirty="0"/>
          </a:p>
        </p:txBody>
      </p:sp>
      <p:sp>
        <p:nvSpPr>
          <p:cNvPr id="7" name="Text 5"/>
          <p:cNvSpPr/>
          <p:nvPr/>
        </p:nvSpPr>
        <p:spPr>
          <a:xfrm>
            <a:off x="731520" y="2679192"/>
            <a:ext cx="2240280" cy="457200"/>
          </a:xfrm>
          <a:prstGeom prst="rect">
            <a:avLst/>
          </a:prstGeom>
          <a:noFill/>
          <a:ln/>
        </p:spPr>
        <p:txBody>
          <a:bodyPr wrap="square" rtlCol="0" anchor="ctr"/>
          <a:lstStyle/>
          <a:p>
            <a:pPr marL="0" indent="0">
              <a:buNone/>
            </a:pPr>
            <a:r>
              <a:rPr lang="en-US" sz="1250" b="1" dirty="0">
                <a:solidFill>
                  <a:srgbClr val="1D2433"/>
                </a:solidFill>
              </a:rPr>
              <a:t>3-Year Revenue</a:t>
            </a:r>
            <a:endParaRPr lang="en-US" sz="1250" dirty="0"/>
          </a:p>
        </p:txBody>
      </p:sp>
      <p:sp>
        <p:nvSpPr>
          <p:cNvPr id="8" name="Text 6"/>
          <p:cNvSpPr/>
          <p:nvPr/>
        </p:nvSpPr>
        <p:spPr>
          <a:xfrm>
            <a:off x="731520" y="3063240"/>
            <a:ext cx="2240280" cy="502920"/>
          </a:xfrm>
          <a:prstGeom prst="rect">
            <a:avLst/>
          </a:prstGeom>
          <a:noFill/>
          <a:ln/>
        </p:spPr>
        <p:txBody>
          <a:bodyPr wrap="square" rtlCol="0" anchor="ctr"/>
          <a:lstStyle/>
          <a:p>
            <a:pPr marL="0" indent="0">
              <a:buNone/>
            </a:pPr>
            <a:r>
              <a:rPr lang="en-US" sz="1000" dirty="0">
                <a:solidFill>
                  <a:srgbClr val="8C97A8"/>
                </a:solidFill>
              </a:rPr>
              <a:t>across 32 SKUs, 8 categories</a:t>
            </a:r>
            <a:endParaRPr lang="en-US" sz="1000" dirty="0"/>
          </a:p>
        </p:txBody>
      </p:sp>
      <p:sp>
        <p:nvSpPr>
          <p:cNvPr id="9" name="Shape 7"/>
          <p:cNvSpPr/>
          <p:nvPr/>
        </p:nvSpPr>
        <p:spPr>
          <a:xfrm>
            <a:off x="3410712" y="1600200"/>
            <a:ext cx="2606040" cy="2011680"/>
          </a:xfrm>
          <a:prstGeom prst="roundRect">
            <a:avLst>
              <a:gd name="adj" fmla="val 3636"/>
            </a:avLst>
          </a:prstGeom>
          <a:solidFill>
            <a:srgbClr val="F2F4F7"/>
          </a:solidFill>
          <a:ln/>
          <a:effectLst>
            <a:outerShdw blurRad="76200" dist="25400" dir="5400000" algn="bl" rotWithShape="0">
              <a:srgbClr val="000000">
                <a:alpha val="12000"/>
              </a:srgbClr>
            </a:outerShdw>
          </a:effectLst>
        </p:spPr>
      </p:sp>
      <p:sp>
        <p:nvSpPr>
          <p:cNvPr id="10" name="Shape 8"/>
          <p:cNvSpPr/>
          <p:nvPr/>
        </p:nvSpPr>
        <p:spPr>
          <a:xfrm>
            <a:off x="3611880" y="1801368"/>
            <a:ext cx="457200" cy="73152"/>
          </a:xfrm>
          <a:prstGeom prst="rect">
            <a:avLst/>
          </a:prstGeom>
          <a:solidFill>
            <a:srgbClr val="E4572E"/>
          </a:solidFill>
          <a:ln/>
        </p:spPr>
      </p:sp>
      <p:sp>
        <p:nvSpPr>
          <p:cNvPr id="11" name="Text 9"/>
          <p:cNvSpPr/>
          <p:nvPr/>
        </p:nvSpPr>
        <p:spPr>
          <a:xfrm>
            <a:off x="3593592" y="1984248"/>
            <a:ext cx="2240280" cy="685800"/>
          </a:xfrm>
          <a:prstGeom prst="rect">
            <a:avLst/>
          </a:prstGeom>
          <a:noFill/>
          <a:ln/>
        </p:spPr>
        <p:txBody>
          <a:bodyPr wrap="square" rtlCol="0" anchor="ctr"/>
          <a:lstStyle/>
          <a:p>
            <a:pPr marL="0" indent="0">
              <a:buNone/>
            </a:pPr>
            <a:r>
              <a:rPr lang="en-US" sz="3000" b="1" dirty="0">
                <a:solidFill>
                  <a:srgbClr val="E4572E"/>
                </a:solidFill>
                <a:latin typeface="Georgia" pitchFamily="34" charset="0"/>
                <a:ea typeface="Georgia" pitchFamily="34" charset="-122"/>
                <a:cs typeface="Georgia" pitchFamily="34" charset="-120"/>
              </a:rPr>
              <a:t>51.4%</a:t>
            </a:r>
            <a:endParaRPr lang="en-US" sz="3000" dirty="0"/>
          </a:p>
        </p:txBody>
      </p:sp>
      <p:sp>
        <p:nvSpPr>
          <p:cNvPr id="12" name="Text 10"/>
          <p:cNvSpPr/>
          <p:nvPr/>
        </p:nvSpPr>
        <p:spPr>
          <a:xfrm>
            <a:off x="3593592" y="2679192"/>
            <a:ext cx="2240280" cy="457200"/>
          </a:xfrm>
          <a:prstGeom prst="rect">
            <a:avLst/>
          </a:prstGeom>
          <a:noFill/>
          <a:ln/>
        </p:spPr>
        <p:txBody>
          <a:bodyPr wrap="square" rtlCol="0" anchor="ctr"/>
          <a:lstStyle/>
          <a:p>
            <a:pPr marL="0" indent="0">
              <a:buNone/>
            </a:pPr>
            <a:r>
              <a:rPr lang="en-US" sz="1250" b="1" dirty="0">
                <a:solidFill>
                  <a:srgbClr val="1D2433"/>
                </a:solidFill>
              </a:rPr>
              <a:t>Excess Inventory Share</a:t>
            </a:r>
            <a:endParaRPr lang="en-US" sz="1250" dirty="0"/>
          </a:p>
        </p:txBody>
      </p:sp>
      <p:sp>
        <p:nvSpPr>
          <p:cNvPr id="13" name="Text 11"/>
          <p:cNvSpPr/>
          <p:nvPr/>
        </p:nvSpPr>
        <p:spPr>
          <a:xfrm>
            <a:off x="3593592" y="3063240"/>
            <a:ext cx="2240280" cy="502920"/>
          </a:xfrm>
          <a:prstGeom prst="rect">
            <a:avLst/>
          </a:prstGeom>
          <a:noFill/>
          <a:ln/>
        </p:spPr>
        <p:txBody>
          <a:bodyPr wrap="square" rtlCol="0" anchor="ctr"/>
          <a:lstStyle/>
          <a:p>
            <a:pPr marL="0" indent="0">
              <a:buNone/>
            </a:pPr>
            <a:r>
              <a:rPr lang="en-US" sz="1000" dirty="0">
                <a:solidFill>
                  <a:srgbClr val="8C97A8"/>
                </a:solidFill>
              </a:rPr>
              <a:t>of avg. stock sits in low-turnover SKUs</a:t>
            </a:r>
            <a:endParaRPr lang="en-US" sz="1000" dirty="0"/>
          </a:p>
        </p:txBody>
      </p:sp>
      <p:sp>
        <p:nvSpPr>
          <p:cNvPr id="14" name="Shape 12"/>
          <p:cNvSpPr/>
          <p:nvPr/>
        </p:nvSpPr>
        <p:spPr>
          <a:xfrm>
            <a:off x="6272784" y="1600200"/>
            <a:ext cx="2606040" cy="2011680"/>
          </a:xfrm>
          <a:prstGeom prst="roundRect">
            <a:avLst>
              <a:gd name="adj" fmla="val 3636"/>
            </a:avLst>
          </a:prstGeom>
          <a:solidFill>
            <a:srgbClr val="F2F4F7"/>
          </a:solidFill>
          <a:ln/>
          <a:effectLst>
            <a:outerShdw blurRad="76200" dist="25400" dir="5400000" algn="bl" rotWithShape="0">
              <a:srgbClr val="000000">
                <a:alpha val="12000"/>
              </a:srgbClr>
            </a:outerShdw>
          </a:effectLst>
        </p:spPr>
      </p:sp>
      <p:sp>
        <p:nvSpPr>
          <p:cNvPr id="15" name="Shape 13"/>
          <p:cNvSpPr/>
          <p:nvPr/>
        </p:nvSpPr>
        <p:spPr>
          <a:xfrm>
            <a:off x="6473952" y="1801368"/>
            <a:ext cx="457200" cy="73152"/>
          </a:xfrm>
          <a:prstGeom prst="rect">
            <a:avLst/>
          </a:prstGeom>
          <a:solidFill>
            <a:srgbClr val="E8A33D"/>
          </a:solidFill>
          <a:ln/>
        </p:spPr>
      </p:sp>
      <p:sp>
        <p:nvSpPr>
          <p:cNvPr id="16" name="Text 14"/>
          <p:cNvSpPr/>
          <p:nvPr/>
        </p:nvSpPr>
        <p:spPr>
          <a:xfrm>
            <a:off x="6455664" y="1984248"/>
            <a:ext cx="2240280" cy="685800"/>
          </a:xfrm>
          <a:prstGeom prst="rect">
            <a:avLst/>
          </a:prstGeom>
          <a:noFill/>
          <a:ln/>
        </p:spPr>
        <p:txBody>
          <a:bodyPr wrap="square" rtlCol="0" anchor="ctr"/>
          <a:lstStyle/>
          <a:p>
            <a:pPr marL="0" indent="0">
              <a:buNone/>
            </a:pPr>
            <a:r>
              <a:rPr lang="en-US" sz="3000" b="1" dirty="0">
                <a:solidFill>
                  <a:srgbClr val="E8A33D"/>
                </a:solidFill>
                <a:latin typeface="Georgia" pitchFamily="34" charset="0"/>
                <a:ea typeface="Georgia" pitchFamily="34" charset="-122"/>
                <a:cs typeface="Georgia" pitchFamily="34" charset="-120"/>
              </a:rPr>
              <a:t>$1.04M</a:t>
            </a:r>
            <a:endParaRPr lang="en-US" sz="3000" dirty="0"/>
          </a:p>
        </p:txBody>
      </p:sp>
      <p:sp>
        <p:nvSpPr>
          <p:cNvPr id="17" name="Text 15"/>
          <p:cNvSpPr/>
          <p:nvPr/>
        </p:nvSpPr>
        <p:spPr>
          <a:xfrm>
            <a:off x="6455664" y="2679192"/>
            <a:ext cx="2240280" cy="457200"/>
          </a:xfrm>
          <a:prstGeom prst="rect">
            <a:avLst/>
          </a:prstGeom>
          <a:noFill/>
          <a:ln/>
        </p:spPr>
        <p:txBody>
          <a:bodyPr wrap="square" rtlCol="0" anchor="ctr"/>
          <a:lstStyle/>
          <a:p>
            <a:pPr marL="0" indent="0">
              <a:buNone/>
            </a:pPr>
            <a:r>
              <a:rPr lang="en-US" sz="1250" b="1" dirty="0">
                <a:solidFill>
                  <a:srgbClr val="1D2433"/>
                </a:solidFill>
              </a:rPr>
              <a:t>Est. Lost Revenue</a:t>
            </a:r>
            <a:endParaRPr lang="en-US" sz="1250" dirty="0"/>
          </a:p>
        </p:txBody>
      </p:sp>
      <p:sp>
        <p:nvSpPr>
          <p:cNvPr id="18" name="Text 16"/>
          <p:cNvSpPr/>
          <p:nvPr/>
        </p:nvSpPr>
        <p:spPr>
          <a:xfrm>
            <a:off x="6455664" y="3063240"/>
            <a:ext cx="2240280" cy="502920"/>
          </a:xfrm>
          <a:prstGeom prst="rect">
            <a:avLst/>
          </a:prstGeom>
          <a:noFill/>
          <a:ln/>
        </p:spPr>
        <p:txBody>
          <a:bodyPr wrap="square" rtlCol="0" anchor="ctr"/>
          <a:lstStyle/>
          <a:p>
            <a:pPr marL="0" indent="0">
              <a:buNone/>
            </a:pPr>
            <a:r>
              <a:rPr lang="en-US" sz="1000" dirty="0">
                <a:solidFill>
                  <a:srgbClr val="8C97A8"/>
                </a:solidFill>
              </a:rPr>
              <a:t>from stockouts over 3 years</a:t>
            </a:r>
            <a:endParaRPr lang="en-US" sz="1000" dirty="0"/>
          </a:p>
        </p:txBody>
      </p:sp>
      <p:sp>
        <p:nvSpPr>
          <p:cNvPr id="19" name="Shape 17"/>
          <p:cNvSpPr/>
          <p:nvPr/>
        </p:nvSpPr>
        <p:spPr>
          <a:xfrm>
            <a:off x="9134856" y="1600200"/>
            <a:ext cx="2606040" cy="2011680"/>
          </a:xfrm>
          <a:prstGeom prst="roundRect">
            <a:avLst>
              <a:gd name="adj" fmla="val 3636"/>
            </a:avLst>
          </a:prstGeom>
          <a:solidFill>
            <a:srgbClr val="F2F4F7"/>
          </a:solidFill>
          <a:ln/>
          <a:effectLst>
            <a:outerShdw blurRad="76200" dist="25400" dir="5400000" algn="bl" rotWithShape="0">
              <a:srgbClr val="000000">
                <a:alpha val="12000"/>
              </a:srgbClr>
            </a:outerShdw>
          </a:effectLst>
        </p:spPr>
      </p:sp>
      <p:sp>
        <p:nvSpPr>
          <p:cNvPr id="20" name="Shape 18"/>
          <p:cNvSpPr/>
          <p:nvPr/>
        </p:nvSpPr>
        <p:spPr>
          <a:xfrm>
            <a:off x="9336024" y="1801368"/>
            <a:ext cx="457200" cy="73152"/>
          </a:xfrm>
          <a:prstGeom prst="rect">
            <a:avLst/>
          </a:prstGeom>
          <a:solidFill>
            <a:srgbClr val="1B7F79"/>
          </a:solidFill>
          <a:ln/>
        </p:spPr>
      </p:sp>
      <p:sp>
        <p:nvSpPr>
          <p:cNvPr id="21" name="Text 19"/>
          <p:cNvSpPr/>
          <p:nvPr/>
        </p:nvSpPr>
        <p:spPr>
          <a:xfrm>
            <a:off x="9317736" y="1984248"/>
            <a:ext cx="2240280" cy="685800"/>
          </a:xfrm>
          <a:prstGeom prst="rect">
            <a:avLst/>
          </a:prstGeom>
          <a:noFill/>
          <a:ln/>
        </p:spPr>
        <p:txBody>
          <a:bodyPr wrap="square" rtlCol="0" anchor="ctr"/>
          <a:lstStyle/>
          <a:p>
            <a:pPr marL="0" indent="0">
              <a:buNone/>
            </a:pPr>
            <a:r>
              <a:rPr lang="en-US" sz="3000" b="1" dirty="0">
                <a:solidFill>
                  <a:srgbClr val="1B7F79"/>
                </a:solidFill>
                <a:latin typeface="Georgia" pitchFamily="34" charset="0"/>
                <a:ea typeface="Georgia" pitchFamily="34" charset="-122"/>
                <a:cs typeface="Georgia" pitchFamily="34" charset="-120"/>
              </a:rPr>
              <a:t>29 / 32</a:t>
            </a:r>
            <a:endParaRPr lang="en-US" sz="3000" dirty="0"/>
          </a:p>
        </p:txBody>
      </p:sp>
      <p:sp>
        <p:nvSpPr>
          <p:cNvPr id="22" name="Text 20"/>
          <p:cNvSpPr/>
          <p:nvPr/>
        </p:nvSpPr>
        <p:spPr>
          <a:xfrm>
            <a:off x="9317736" y="2679192"/>
            <a:ext cx="2240280" cy="457200"/>
          </a:xfrm>
          <a:prstGeom prst="rect">
            <a:avLst/>
          </a:prstGeom>
          <a:noFill/>
          <a:ln/>
        </p:spPr>
        <p:txBody>
          <a:bodyPr wrap="square" rtlCol="0" anchor="ctr"/>
          <a:lstStyle/>
          <a:p>
            <a:pPr marL="0" indent="0">
              <a:buNone/>
            </a:pPr>
            <a:r>
              <a:rPr lang="en-US" sz="1250" b="1" dirty="0">
                <a:solidFill>
                  <a:srgbClr val="1D2433"/>
                </a:solidFill>
              </a:rPr>
              <a:t>Products Chronically</a:t>
            </a:r>
            <a:endParaRPr lang="en-US" sz="1250" dirty="0"/>
          </a:p>
          <a:p>
            <a:pPr marL="0" indent="0">
              <a:buNone/>
            </a:pPr>
            <a:r>
              <a:rPr lang="en-US" sz="1250" b="1" dirty="0">
                <a:solidFill>
                  <a:srgbClr val="1D2433"/>
                </a:solidFill>
              </a:rPr>
              <a:t>Out of Stock</a:t>
            </a:r>
            <a:endParaRPr lang="en-US" sz="1250" dirty="0"/>
          </a:p>
        </p:txBody>
      </p:sp>
      <p:sp>
        <p:nvSpPr>
          <p:cNvPr id="23" name="Text 21"/>
          <p:cNvSpPr/>
          <p:nvPr/>
        </p:nvSpPr>
        <p:spPr>
          <a:xfrm>
            <a:off x="9317736" y="3063240"/>
            <a:ext cx="2240280" cy="502920"/>
          </a:xfrm>
          <a:prstGeom prst="rect">
            <a:avLst/>
          </a:prstGeom>
          <a:noFill/>
          <a:ln/>
        </p:spPr>
        <p:txBody>
          <a:bodyPr wrap="square" rtlCol="0" anchor="ctr"/>
          <a:lstStyle/>
          <a:p>
            <a:pPr marL="0" indent="0">
              <a:buNone/>
            </a:pPr>
            <a:r>
              <a:rPr lang="en-US" sz="1000" dirty="0">
                <a:solidFill>
                  <a:srgbClr val="8C97A8"/>
                </a:solidFill>
              </a:rPr>
              <a:t>stocked out in 15%+ of months</a:t>
            </a:r>
            <a:endParaRPr lang="en-US" sz="1000" dirty="0"/>
          </a:p>
        </p:txBody>
      </p:sp>
      <p:sp>
        <p:nvSpPr>
          <p:cNvPr id="24" name="Text 22"/>
          <p:cNvSpPr/>
          <p:nvPr/>
        </p:nvSpPr>
        <p:spPr>
          <a:xfrm>
            <a:off x="548640" y="3977640"/>
            <a:ext cx="11064240" cy="1005840"/>
          </a:xfrm>
          <a:prstGeom prst="rect">
            <a:avLst/>
          </a:prstGeom>
          <a:noFill/>
          <a:ln/>
        </p:spPr>
        <p:txBody>
          <a:bodyPr wrap="square" rtlCol="0" anchor="ctr"/>
          <a:lstStyle/>
          <a:p>
            <a:pPr marL="0" indent="0">
              <a:lnSpc>
                <a:spcPts val="2000"/>
              </a:lnSpc>
              <a:buNone/>
            </a:pPr>
            <a:r>
              <a:rPr lang="en-US" sz="1300" dirty="0">
                <a:solidFill>
                  <a:srgbClr val="1D2433"/>
                </a:solidFill>
              </a:rPr>
              <a:t>Demand is highly seasonal — December sales run 2.7x January levels — yet reorder cycles don't track that curve. The result: capital tied up in slow-moving toys while fast-movers run dry right when demand peaks. Fixing reorder timing and safety stock by category could recover a large share of the $1M+ in lost sales without growing total inventory spend.</a:t>
            </a:r>
            <a:endParaRPr lang="en-US" sz="1300" dirty="0"/>
          </a:p>
        </p:txBody>
      </p:sp>
      <p:sp>
        <p:nvSpPr>
          <p:cNvPr id="25" name="Shape 23"/>
          <p:cNvSpPr/>
          <p:nvPr/>
        </p:nvSpPr>
        <p:spPr>
          <a:xfrm>
            <a:off x="548640" y="5120640"/>
            <a:ext cx="11064240" cy="0"/>
          </a:xfrm>
          <a:prstGeom prst="line">
            <a:avLst/>
          </a:prstGeom>
          <a:noFill/>
          <a:ln w="12700">
            <a:solidFill>
              <a:srgbClr val="E4E7EC"/>
            </a:solidFill>
            <a:prstDash val="solid"/>
          </a:ln>
        </p:spPr>
      </p:sp>
      <p:sp>
        <p:nvSpPr>
          <p:cNvPr id="26" name="Text 24"/>
          <p:cNvSpPr/>
          <p:nvPr/>
        </p:nvSpPr>
        <p:spPr>
          <a:xfrm>
            <a:off x="548640" y="5303520"/>
            <a:ext cx="1828800" cy="274320"/>
          </a:xfrm>
          <a:prstGeom prst="rect">
            <a:avLst/>
          </a:prstGeom>
          <a:noFill/>
          <a:ln/>
        </p:spPr>
        <p:txBody>
          <a:bodyPr wrap="square" rtlCol="0" anchor="ctr"/>
          <a:lstStyle/>
          <a:p>
            <a:pPr marL="0" indent="0">
              <a:buNone/>
            </a:pPr>
            <a:r>
              <a:rPr lang="en-US" sz="1050" b="1" kern="0" spc="150" dirty="0">
                <a:solidFill>
                  <a:srgbClr val="1B7F79"/>
                </a:solidFill>
              </a:rPr>
              <a:t>METHOD</a:t>
            </a:r>
            <a:endParaRPr lang="en-US" sz="1050" dirty="0"/>
          </a:p>
        </p:txBody>
      </p:sp>
      <p:sp>
        <p:nvSpPr>
          <p:cNvPr id="27" name="Text 25"/>
          <p:cNvSpPr/>
          <p:nvPr/>
        </p:nvSpPr>
        <p:spPr>
          <a:xfrm>
            <a:off x="548640" y="5577840"/>
            <a:ext cx="11064240" cy="640080"/>
          </a:xfrm>
          <a:prstGeom prst="rect">
            <a:avLst/>
          </a:prstGeom>
          <a:noFill/>
          <a:ln/>
        </p:spPr>
        <p:txBody>
          <a:bodyPr wrap="square" rtlCol="0" anchor="ctr"/>
          <a:lstStyle/>
          <a:p>
            <a:pPr marL="0" indent="0">
              <a:lnSpc>
                <a:spcPts val="1600"/>
              </a:lnSpc>
              <a:buNone/>
            </a:pPr>
            <a:r>
              <a:rPr lang="en-US" sz="1100" dirty="0">
                <a:solidFill>
                  <a:srgbClr val="8C97A8"/>
                </a:solidFill>
              </a:rPr>
              <a:t>3 years (2023–2025) of monthly sales &amp; inventory records across 32 products / 8 categories / 2 channels (Retail, Online). Category labels and stock counts were cleaned and standardized; missing values imputed at the product level (documented in Appendix).</a:t>
            </a:r>
            <a:endParaRPr lang="en-US" sz="1100" dirty="0"/>
          </a:p>
        </p:txBody>
      </p:sp>
      <p:sp>
        <p:nvSpPr>
          <p:cNvPr id="29" name="Text 27"/>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8C97A8"/>
                </a:solidFill>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9144000" cy="274320"/>
          </a:xfrm>
          <a:prstGeom prst="rect">
            <a:avLst/>
          </a:prstGeom>
          <a:noFill/>
          <a:ln/>
        </p:spPr>
        <p:txBody>
          <a:bodyPr wrap="square" rtlCol="0" anchor="ctr"/>
          <a:lstStyle/>
          <a:p>
            <a:pPr marL="0" indent="0">
              <a:buNone/>
            </a:pPr>
            <a:r>
              <a:rPr lang="en-US" sz="1200" b="1" kern="0" spc="200" dirty="0">
                <a:solidFill>
                  <a:srgbClr val="E4572E"/>
                </a:solidFill>
              </a:rPr>
              <a:t>BACKGROUND</a:t>
            </a:r>
            <a:endParaRPr lang="en-US" sz="1200" dirty="0"/>
          </a:p>
        </p:txBody>
      </p:sp>
      <p:sp>
        <p:nvSpPr>
          <p:cNvPr id="3" name="Text 1"/>
          <p:cNvSpPr/>
          <p:nvPr/>
        </p:nvSpPr>
        <p:spPr>
          <a:xfrm>
            <a:off x="548640" y="594360"/>
            <a:ext cx="10972800" cy="640080"/>
          </a:xfrm>
          <a:prstGeom prst="rect">
            <a:avLst/>
          </a:prstGeom>
          <a:noFill/>
          <a:ln/>
        </p:spPr>
        <p:txBody>
          <a:bodyPr wrap="square" rtlCol="0" anchor="ctr"/>
          <a:lstStyle/>
          <a:p>
            <a:pPr marL="0" indent="0">
              <a:buNone/>
            </a:pPr>
            <a:r>
              <a:rPr lang="en-US" sz="2800" b="1" dirty="0">
                <a:solidFill>
                  <a:srgbClr val="1B2A4A"/>
                </a:solidFill>
                <a:latin typeface="Georgia" pitchFamily="34" charset="0"/>
                <a:ea typeface="Georgia" pitchFamily="34" charset="-122"/>
                <a:cs typeface="Georgia" pitchFamily="34" charset="-120"/>
              </a:rPr>
              <a:t>Why This Analysis, Why Now</a:t>
            </a:r>
            <a:endParaRPr lang="en-US" sz="2800" dirty="0"/>
          </a:p>
        </p:txBody>
      </p:sp>
      <p:sp>
        <p:nvSpPr>
          <p:cNvPr id="4" name="Text 2"/>
          <p:cNvSpPr/>
          <p:nvPr/>
        </p:nvSpPr>
        <p:spPr>
          <a:xfrm>
            <a:off x="548640" y="1600200"/>
            <a:ext cx="6400800" cy="1188720"/>
          </a:xfrm>
          <a:prstGeom prst="rect">
            <a:avLst/>
          </a:prstGeom>
          <a:noFill/>
          <a:ln/>
        </p:spPr>
        <p:txBody>
          <a:bodyPr wrap="square" rtlCol="0" anchor="ctr"/>
          <a:lstStyle/>
          <a:p>
            <a:pPr marL="0" indent="0">
              <a:lnSpc>
                <a:spcPts val="2100"/>
              </a:lnSpc>
              <a:buNone/>
            </a:pPr>
            <a:r>
              <a:rPr lang="en-US" sz="1400" dirty="0">
                <a:solidFill>
                  <a:srgbClr val="1D2433"/>
                </a:solidFill>
              </a:rPr>
              <a:t>After the last holiday season, ToyJoy ended up with excess inventory of some products while others sold out at the worst possible time. This analysis pinpoints exactly where the imbalance is happening and what to do about it.</a:t>
            </a:r>
            <a:endParaRPr lang="en-US" sz="1400" dirty="0"/>
          </a:p>
        </p:txBody>
      </p:sp>
      <p:sp>
        <p:nvSpPr>
          <p:cNvPr id="5" name="Shape 3"/>
          <p:cNvSpPr/>
          <p:nvPr/>
        </p:nvSpPr>
        <p:spPr>
          <a:xfrm>
            <a:off x="548640" y="2926080"/>
            <a:ext cx="384048" cy="384048"/>
          </a:xfrm>
          <a:prstGeom prst="ellipse">
            <a:avLst/>
          </a:prstGeom>
          <a:solidFill>
            <a:srgbClr val="1B7F79"/>
          </a:solidFill>
          <a:ln/>
        </p:spPr>
      </p:sp>
      <p:sp>
        <p:nvSpPr>
          <p:cNvPr id="6" name="Text 4"/>
          <p:cNvSpPr/>
          <p:nvPr/>
        </p:nvSpPr>
        <p:spPr>
          <a:xfrm>
            <a:off x="548640" y="2926080"/>
            <a:ext cx="384048" cy="384048"/>
          </a:xfrm>
          <a:prstGeom prst="rect">
            <a:avLst/>
          </a:prstGeom>
          <a:noFill/>
          <a:ln/>
        </p:spPr>
        <p:txBody>
          <a:bodyPr wrap="square" rtlCol="0" anchor="ctr"/>
          <a:lstStyle/>
          <a:p>
            <a:pPr marL="0" indent="0" algn="ctr">
              <a:buNone/>
            </a:pPr>
            <a:r>
              <a:rPr lang="en-US" sz="1400" b="1" dirty="0">
                <a:solidFill>
                  <a:srgbClr val="FFFFFF"/>
                </a:solidFill>
              </a:rPr>
              <a:t>1</a:t>
            </a:r>
            <a:endParaRPr lang="en-US" sz="1400" dirty="0"/>
          </a:p>
        </p:txBody>
      </p:sp>
      <p:sp>
        <p:nvSpPr>
          <p:cNvPr id="7" name="Text 5"/>
          <p:cNvSpPr/>
          <p:nvPr/>
        </p:nvSpPr>
        <p:spPr>
          <a:xfrm>
            <a:off x="1097280" y="2880360"/>
            <a:ext cx="5669280" cy="320040"/>
          </a:xfrm>
          <a:prstGeom prst="rect">
            <a:avLst/>
          </a:prstGeom>
          <a:noFill/>
          <a:ln/>
        </p:spPr>
        <p:txBody>
          <a:bodyPr wrap="square" rtlCol="0" anchor="ctr"/>
          <a:lstStyle/>
          <a:p>
            <a:pPr marL="0" indent="0">
              <a:buNone/>
            </a:pPr>
            <a:r>
              <a:rPr lang="en-US" sz="1350" b="1" dirty="0">
                <a:solidFill>
                  <a:srgbClr val="1B2A4A"/>
                </a:solidFill>
              </a:rPr>
              <a:t>Spot the imbalance</a:t>
            </a:r>
            <a:endParaRPr lang="en-US" sz="1350" dirty="0"/>
          </a:p>
        </p:txBody>
      </p:sp>
      <p:sp>
        <p:nvSpPr>
          <p:cNvPr id="8" name="Text 6"/>
          <p:cNvSpPr/>
          <p:nvPr/>
        </p:nvSpPr>
        <p:spPr>
          <a:xfrm>
            <a:off x="1097280" y="3218688"/>
            <a:ext cx="5669280" cy="457200"/>
          </a:xfrm>
          <a:prstGeom prst="rect">
            <a:avLst/>
          </a:prstGeom>
          <a:noFill/>
          <a:ln/>
        </p:spPr>
        <p:txBody>
          <a:bodyPr wrap="square" rtlCol="0" anchor="ctr"/>
          <a:lstStyle/>
          <a:p>
            <a:pPr marL="0" indent="0">
              <a:lnSpc>
                <a:spcPts val="1400"/>
              </a:lnSpc>
              <a:buNone/>
            </a:pPr>
            <a:r>
              <a:rPr lang="en-US" sz="1100" dirty="0">
                <a:solidFill>
                  <a:srgbClr val="8C97A8"/>
                </a:solidFill>
              </a:rPr>
              <a:t>Identify products/categories with high overstock vs. chronic stockouts</a:t>
            </a:r>
            <a:endParaRPr lang="en-US" sz="1100" dirty="0"/>
          </a:p>
        </p:txBody>
      </p:sp>
      <p:sp>
        <p:nvSpPr>
          <p:cNvPr id="9" name="Shape 7"/>
          <p:cNvSpPr/>
          <p:nvPr/>
        </p:nvSpPr>
        <p:spPr>
          <a:xfrm>
            <a:off x="548640" y="3886200"/>
            <a:ext cx="384048" cy="384048"/>
          </a:xfrm>
          <a:prstGeom prst="ellipse">
            <a:avLst/>
          </a:prstGeom>
          <a:solidFill>
            <a:srgbClr val="1B7F79"/>
          </a:solidFill>
          <a:ln/>
        </p:spPr>
      </p:sp>
      <p:sp>
        <p:nvSpPr>
          <p:cNvPr id="10" name="Text 8"/>
          <p:cNvSpPr/>
          <p:nvPr/>
        </p:nvSpPr>
        <p:spPr>
          <a:xfrm>
            <a:off x="548640" y="3886200"/>
            <a:ext cx="384048" cy="384048"/>
          </a:xfrm>
          <a:prstGeom prst="rect">
            <a:avLst/>
          </a:prstGeom>
          <a:noFill/>
          <a:ln/>
        </p:spPr>
        <p:txBody>
          <a:bodyPr wrap="square" rtlCol="0" anchor="ctr"/>
          <a:lstStyle/>
          <a:p>
            <a:pPr marL="0" indent="0" algn="ctr">
              <a:buNone/>
            </a:pPr>
            <a:r>
              <a:rPr lang="en-US" sz="1400" b="1" dirty="0">
                <a:solidFill>
                  <a:srgbClr val="FFFFFF"/>
                </a:solidFill>
              </a:rPr>
              <a:t>2</a:t>
            </a:r>
            <a:endParaRPr lang="en-US" sz="1400" dirty="0"/>
          </a:p>
        </p:txBody>
      </p:sp>
      <p:sp>
        <p:nvSpPr>
          <p:cNvPr id="11" name="Text 9"/>
          <p:cNvSpPr/>
          <p:nvPr/>
        </p:nvSpPr>
        <p:spPr>
          <a:xfrm>
            <a:off x="1097280" y="3840480"/>
            <a:ext cx="5669280" cy="320040"/>
          </a:xfrm>
          <a:prstGeom prst="rect">
            <a:avLst/>
          </a:prstGeom>
          <a:noFill/>
          <a:ln/>
        </p:spPr>
        <p:txBody>
          <a:bodyPr wrap="square" rtlCol="0" anchor="ctr"/>
          <a:lstStyle/>
          <a:p>
            <a:pPr marL="0" indent="0">
              <a:buNone/>
            </a:pPr>
            <a:r>
              <a:rPr lang="en-US" sz="1350" b="1" dirty="0">
                <a:solidFill>
                  <a:srgbClr val="1B2A4A"/>
                </a:solidFill>
              </a:rPr>
              <a:t>Model seasonality</a:t>
            </a:r>
            <a:endParaRPr lang="en-US" sz="1350" dirty="0"/>
          </a:p>
        </p:txBody>
      </p:sp>
      <p:sp>
        <p:nvSpPr>
          <p:cNvPr id="12" name="Text 10"/>
          <p:cNvSpPr/>
          <p:nvPr/>
        </p:nvSpPr>
        <p:spPr>
          <a:xfrm>
            <a:off x="1097280" y="4178808"/>
            <a:ext cx="5669280" cy="457200"/>
          </a:xfrm>
          <a:prstGeom prst="rect">
            <a:avLst/>
          </a:prstGeom>
          <a:noFill/>
          <a:ln/>
        </p:spPr>
        <p:txBody>
          <a:bodyPr wrap="square" rtlCol="0" anchor="ctr"/>
          <a:lstStyle/>
          <a:p>
            <a:pPr marL="0" indent="0">
              <a:lnSpc>
                <a:spcPts val="1400"/>
              </a:lnSpc>
              <a:buNone/>
            </a:pPr>
            <a:r>
              <a:rPr lang="en-US" sz="1100" dirty="0">
                <a:solidFill>
                  <a:srgbClr val="8C97A8"/>
                </a:solidFill>
              </a:rPr>
              <a:t>Map demand trends across holidays, back-to-school, and summer peaks</a:t>
            </a:r>
            <a:endParaRPr lang="en-US" sz="1100" dirty="0"/>
          </a:p>
        </p:txBody>
      </p:sp>
      <p:sp>
        <p:nvSpPr>
          <p:cNvPr id="13" name="Shape 11"/>
          <p:cNvSpPr/>
          <p:nvPr/>
        </p:nvSpPr>
        <p:spPr>
          <a:xfrm>
            <a:off x="548640" y="4846320"/>
            <a:ext cx="384048" cy="384048"/>
          </a:xfrm>
          <a:prstGeom prst="ellipse">
            <a:avLst/>
          </a:prstGeom>
          <a:solidFill>
            <a:srgbClr val="1B7F79"/>
          </a:solidFill>
          <a:ln/>
        </p:spPr>
      </p:sp>
      <p:sp>
        <p:nvSpPr>
          <p:cNvPr id="14" name="Text 12"/>
          <p:cNvSpPr/>
          <p:nvPr/>
        </p:nvSpPr>
        <p:spPr>
          <a:xfrm>
            <a:off x="548640" y="4846320"/>
            <a:ext cx="384048" cy="384048"/>
          </a:xfrm>
          <a:prstGeom prst="rect">
            <a:avLst/>
          </a:prstGeom>
          <a:noFill/>
          <a:ln/>
        </p:spPr>
        <p:txBody>
          <a:bodyPr wrap="square" rtlCol="0" anchor="ctr"/>
          <a:lstStyle/>
          <a:p>
            <a:pPr marL="0" indent="0" algn="ctr">
              <a:buNone/>
            </a:pPr>
            <a:r>
              <a:rPr lang="en-US" sz="1400" b="1" dirty="0">
                <a:solidFill>
                  <a:srgbClr val="FFFFFF"/>
                </a:solidFill>
              </a:rPr>
              <a:t>3</a:t>
            </a:r>
            <a:endParaRPr lang="en-US" sz="1400" dirty="0"/>
          </a:p>
        </p:txBody>
      </p:sp>
      <p:sp>
        <p:nvSpPr>
          <p:cNvPr id="15" name="Text 13"/>
          <p:cNvSpPr/>
          <p:nvPr/>
        </p:nvSpPr>
        <p:spPr>
          <a:xfrm>
            <a:off x="1097280" y="4800600"/>
            <a:ext cx="5669280" cy="320040"/>
          </a:xfrm>
          <a:prstGeom prst="rect">
            <a:avLst/>
          </a:prstGeom>
          <a:noFill/>
          <a:ln/>
        </p:spPr>
        <p:txBody>
          <a:bodyPr wrap="square" rtlCol="0" anchor="ctr"/>
          <a:lstStyle/>
          <a:p>
            <a:pPr marL="0" indent="0">
              <a:buNone/>
            </a:pPr>
            <a:r>
              <a:rPr lang="en-US" sz="1350" b="1" dirty="0">
                <a:solidFill>
                  <a:srgbClr val="1B2A4A"/>
                </a:solidFill>
              </a:rPr>
              <a:t>Recommend action</a:t>
            </a:r>
            <a:endParaRPr lang="en-US" sz="1350" dirty="0"/>
          </a:p>
        </p:txBody>
      </p:sp>
      <p:sp>
        <p:nvSpPr>
          <p:cNvPr id="16" name="Text 14"/>
          <p:cNvSpPr/>
          <p:nvPr/>
        </p:nvSpPr>
        <p:spPr>
          <a:xfrm>
            <a:off x="1097280" y="5138928"/>
            <a:ext cx="5669280" cy="457200"/>
          </a:xfrm>
          <a:prstGeom prst="rect">
            <a:avLst/>
          </a:prstGeom>
          <a:noFill/>
          <a:ln/>
        </p:spPr>
        <p:txBody>
          <a:bodyPr wrap="square" rtlCol="0" anchor="ctr"/>
          <a:lstStyle/>
          <a:p>
            <a:pPr marL="0" indent="0">
              <a:lnSpc>
                <a:spcPts val="1400"/>
              </a:lnSpc>
              <a:buNone/>
            </a:pPr>
            <a:r>
              <a:rPr lang="en-US" sz="1100" dirty="0">
                <a:solidFill>
                  <a:srgbClr val="8C97A8"/>
                </a:solidFill>
              </a:rPr>
              <a:t>Translate findings into reorder-point and stocking adjustments</a:t>
            </a:r>
            <a:endParaRPr lang="en-US" sz="1100" dirty="0"/>
          </a:p>
        </p:txBody>
      </p:sp>
      <p:sp>
        <p:nvSpPr>
          <p:cNvPr id="17" name="Shape 15"/>
          <p:cNvSpPr/>
          <p:nvPr/>
        </p:nvSpPr>
        <p:spPr>
          <a:xfrm>
            <a:off x="7406640" y="1600200"/>
            <a:ext cx="4251960" cy="4480560"/>
          </a:xfrm>
          <a:prstGeom prst="roundRect">
            <a:avLst>
              <a:gd name="adj" fmla="val 1720"/>
            </a:avLst>
          </a:prstGeom>
          <a:solidFill>
            <a:srgbClr val="1B2A4A"/>
          </a:solidFill>
          <a:ln/>
        </p:spPr>
      </p:sp>
      <p:sp>
        <p:nvSpPr>
          <p:cNvPr id="18" name="Text 16"/>
          <p:cNvSpPr/>
          <p:nvPr/>
        </p:nvSpPr>
        <p:spPr>
          <a:xfrm>
            <a:off x="7726680" y="1828800"/>
            <a:ext cx="3657600" cy="320040"/>
          </a:xfrm>
          <a:prstGeom prst="rect">
            <a:avLst/>
          </a:prstGeom>
          <a:noFill/>
          <a:ln/>
        </p:spPr>
        <p:txBody>
          <a:bodyPr wrap="square" rtlCol="0" anchor="ctr"/>
          <a:lstStyle/>
          <a:p>
            <a:pPr marL="0" indent="0">
              <a:buNone/>
            </a:pPr>
            <a:r>
              <a:rPr lang="en-US" sz="1200" b="1" kern="0" spc="150" dirty="0">
                <a:solidFill>
                  <a:srgbClr val="E8A33D"/>
                </a:solidFill>
              </a:rPr>
              <a:t>KPIs TRACKED</a:t>
            </a:r>
            <a:endParaRPr lang="en-US" sz="1200" dirty="0"/>
          </a:p>
        </p:txBody>
      </p:sp>
      <p:sp>
        <p:nvSpPr>
          <p:cNvPr id="19" name="Shape 17"/>
          <p:cNvSpPr/>
          <p:nvPr/>
        </p:nvSpPr>
        <p:spPr>
          <a:xfrm>
            <a:off x="7726680" y="2368296"/>
            <a:ext cx="128016" cy="128016"/>
          </a:xfrm>
          <a:prstGeom prst="rect">
            <a:avLst/>
          </a:prstGeom>
          <a:solidFill>
            <a:srgbClr val="E4572E"/>
          </a:solidFill>
          <a:ln/>
        </p:spPr>
      </p:sp>
      <p:sp>
        <p:nvSpPr>
          <p:cNvPr id="20" name="Text 18"/>
          <p:cNvSpPr/>
          <p:nvPr/>
        </p:nvSpPr>
        <p:spPr>
          <a:xfrm>
            <a:off x="8001000" y="2240280"/>
            <a:ext cx="3566160" cy="365760"/>
          </a:xfrm>
          <a:prstGeom prst="rect">
            <a:avLst/>
          </a:prstGeom>
          <a:noFill/>
          <a:ln/>
        </p:spPr>
        <p:txBody>
          <a:bodyPr wrap="square" rtlCol="0" anchor="ctr"/>
          <a:lstStyle/>
          <a:p>
            <a:pPr marL="0" indent="0">
              <a:buNone/>
            </a:pPr>
            <a:r>
              <a:rPr lang="en-US" sz="1250" dirty="0">
                <a:solidFill>
                  <a:srgbClr val="FFFFFF"/>
                </a:solidFill>
              </a:rPr>
              <a:t>Units Sold per Product</a:t>
            </a:r>
            <a:endParaRPr lang="en-US" sz="1250" dirty="0"/>
          </a:p>
        </p:txBody>
      </p:sp>
      <p:sp>
        <p:nvSpPr>
          <p:cNvPr id="21" name="Shape 19"/>
          <p:cNvSpPr/>
          <p:nvPr/>
        </p:nvSpPr>
        <p:spPr>
          <a:xfrm>
            <a:off x="7726680" y="2935224"/>
            <a:ext cx="128016" cy="128016"/>
          </a:xfrm>
          <a:prstGeom prst="rect">
            <a:avLst/>
          </a:prstGeom>
          <a:solidFill>
            <a:srgbClr val="E4572E"/>
          </a:solidFill>
          <a:ln/>
        </p:spPr>
      </p:sp>
      <p:sp>
        <p:nvSpPr>
          <p:cNvPr id="22" name="Text 20"/>
          <p:cNvSpPr/>
          <p:nvPr/>
        </p:nvSpPr>
        <p:spPr>
          <a:xfrm>
            <a:off x="8001000" y="2807208"/>
            <a:ext cx="3566160" cy="365760"/>
          </a:xfrm>
          <a:prstGeom prst="rect">
            <a:avLst/>
          </a:prstGeom>
          <a:noFill/>
          <a:ln/>
        </p:spPr>
        <p:txBody>
          <a:bodyPr wrap="square" rtlCol="0" anchor="ctr"/>
          <a:lstStyle/>
          <a:p>
            <a:pPr marL="0" indent="0">
              <a:buNone/>
            </a:pPr>
            <a:r>
              <a:rPr lang="en-US" sz="1250" dirty="0">
                <a:solidFill>
                  <a:srgbClr val="FFFFFF"/>
                </a:solidFill>
              </a:rPr>
              <a:t>Inventory Turnover Rate</a:t>
            </a:r>
            <a:endParaRPr lang="en-US" sz="1250" dirty="0"/>
          </a:p>
        </p:txBody>
      </p:sp>
      <p:sp>
        <p:nvSpPr>
          <p:cNvPr id="23" name="Shape 21"/>
          <p:cNvSpPr/>
          <p:nvPr/>
        </p:nvSpPr>
        <p:spPr>
          <a:xfrm>
            <a:off x="7726680" y="3502152"/>
            <a:ext cx="128016" cy="128016"/>
          </a:xfrm>
          <a:prstGeom prst="rect">
            <a:avLst/>
          </a:prstGeom>
          <a:solidFill>
            <a:srgbClr val="E4572E"/>
          </a:solidFill>
          <a:ln/>
        </p:spPr>
      </p:sp>
      <p:sp>
        <p:nvSpPr>
          <p:cNvPr id="24" name="Text 22"/>
          <p:cNvSpPr/>
          <p:nvPr/>
        </p:nvSpPr>
        <p:spPr>
          <a:xfrm>
            <a:off x="8001000" y="3374136"/>
            <a:ext cx="3566160" cy="365760"/>
          </a:xfrm>
          <a:prstGeom prst="rect">
            <a:avLst/>
          </a:prstGeom>
          <a:noFill/>
          <a:ln/>
        </p:spPr>
        <p:txBody>
          <a:bodyPr wrap="square" rtlCol="0" anchor="ctr"/>
          <a:lstStyle/>
          <a:p>
            <a:pPr marL="0" indent="0">
              <a:buNone/>
            </a:pPr>
            <a:r>
              <a:rPr lang="en-US" sz="1250" dirty="0">
                <a:solidFill>
                  <a:srgbClr val="FFFFFF"/>
                </a:solidFill>
              </a:rPr>
              <a:t>Stockout Rate</a:t>
            </a:r>
            <a:endParaRPr lang="en-US" sz="1250" dirty="0"/>
          </a:p>
        </p:txBody>
      </p:sp>
      <p:sp>
        <p:nvSpPr>
          <p:cNvPr id="25" name="Shape 23"/>
          <p:cNvSpPr/>
          <p:nvPr/>
        </p:nvSpPr>
        <p:spPr>
          <a:xfrm>
            <a:off x="7726680" y="4069080"/>
            <a:ext cx="128016" cy="128016"/>
          </a:xfrm>
          <a:prstGeom prst="rect">
            <a:avLst/>
          </a:prstGeom>
          <a:solidFill>
            <a:srgbClr val="E4572E"/>
          </a:solidFill>
          <a:ln/>
        </p:spPr>
      </p:sp>
      <p:sp>
        <p:nvSpPr>
          <p:cNvPr id="26" name="Text 24"/>
          <p:cNvSpPr/>
          <p:nvPr/>
        </p:nvSpPr>
        <p:spPr>
          <a:xfrm>
            <a:off x="8001000" y="3941064"/>
            <a:ext cx="3566160" cy="365760"/>
          </a:xfrm>
          <a:prstGeom prst="rect">
            <a:avLst/>
          </a:prstGeom>
          <a:noFill/>
          <a:ln/>
        </p:spPr>
        <p:txBody>
          <a:bodyPr wrap="square" rtlCol="0" anchor="ctr"/>
          <a:lstStyle/>
          <a:p>
            <a:pPr marL="0" indent="0">
              <a:buNone/>
            </a:pPr>
            <a:r>
              <a:rPr lang="en-US" sz="1250" dirty="0">
                <a:solidFill>
                  <a:srgbClr val="FFFFFF"/>
                </a:solidFill>
              </a:rPr>
              <a:t>Excess Inventory Value</a:t>
            </a:r>
            <a:endParaRPr lang="en-US" sz="1250" dirty="0"/>
          </a:p>
        </p:txBody>
      </p:sp>
      <p:sp>
        <p:nvSpPr>
          <p:cNvPr id="27" name="Shape 25"/>
          <p:cNvSpPr/>
          <p:nvPr/>
        </p:nvSpPr>
        <p:spPr>
          <a:xfrm>
            <a:off x="7726680" y="4636008"/>
            <a:ext cx="128016" cy="128016"/>
          </a:xfrm>
          <a:prstGeom prst="rect">
            <a:avLst/>
          </a:prstGeom>
          <a:solidFill>
            <a:srgbClr val="E4572E"/>
          </a:solidFill>
          <a:ln/>
        </p:spPr>
      </p:sp>
      <p:sp>
        <p:nvSpPr>
          <p:cNvPr id="28" name="Text 26"/>
          <p:cNvSpPr/>
          <p:nvPr/>
        </p:nvSpPr>
        <p:spPr>
          <a:xfrm>
            <a:off x="8001000" y="4507992"/>
            <a:ext cx="3566160" cy="365760"/>
          </a:xfrm>
          <a:prstGeom prst="rect">
            <a:avLst/>
          </a:prstGeom>
          <a:noFill/>
          <a:ln/>
        </p:spPr>
        <p:txBody>
          <a:bodyPr wrap="square" rtlCol="0" anchor="ctr"/>
          <a:lstStyle/>
          <a:p>
            <a:pPr marL="0" indent="0">
              <a:buNone/>
            </a:pPr>
            <a:r>
              <a:rPr lang="en-US" sz="1250" dirty="0">
                <a:solidFill>
                  <a:srgbClr val="FFFFFF"/>
                </a:solidFill>
              </a:rPr>
              <a:t>Seasonal Demand Patterns</a:t>
            </a:r>
            <a:endParaRPr lang="en-US" sz="1250" dirty="0"/>
          </a:p>
        </p:txBody>
      </p:sp>
      <p:sp>
        <p:nvSpPr>
          <p:cNvPr id="29" name="Shape 27"/>
          <p:cNvSpPr/>
          <p:nvPr/>
        </p:nvSpPr>
        <p:spPr>
          <a:xfrm>
            <a:off x="7726680" y="5202936"/>
            <a:ext cx="128016" cy="128016"/>
          </a:xfrm>
          <a:prstGeom prst="rect">
            <a:avLst/>
          </a:prstGeom>
          <a:solidFill>
            <a:srgbClr val="E4572E"/>
          </a:solidFill>
          <a:ln/>
        </p:spPr>
      </p:sp>
      <p:sp>
        <p:nvSpPr>
          <p:cNvPr id="30" name="Text 28"/>
          <p:cNvSpPr/>
          <p:nvPr/>
        </p:nvSpPr>
        <p:spPr>
          <a:xfrm>
            <a:off x="8001000" y="5074920"/>
            <a:ext cx="3566160" cy="365760"/>
          </a:xfrm>
          <a:prstGeom prst="rect">
            <a:avLst/>
          </a:prstGeom>
          <a:noFill/>
          <a:ln/>
        </p:spPr>
        <p:txBody>
          <a:bodyPr wrap="square" rtlCol="0" anchor="ctr"/>
          <a:lstStyle/>
          <a:p>
            <a:pPr marL="0" indent="0">
              <a:buNone/>
            </a:pPr>
            <a:r>
              <a:rPr lang="en-US" sz="1250" dirty="0">
                <a:solidFill>
                  <a:srgbClr val="FFFFFF"/>
                </a:solidFill>
              </a:rPr>
              <a:t>Revenue Contribution per Product</a:t>
            </a:r>
            <a:endParaRPr lang="en-US" sz="1250" dirty="0"/>
          </a:p>
        </p:txBody>
      </p:sp>
      <p:sp>
        <p:nvSpPr>
          <p:cNvPr id="32" name="Text 30"/>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8C97A8"/>
                </a:solidFill>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9144000" cy="274320"/>
          </a:xfrm>
          <a:prstGeom prst="rect">
            <a:avLst/>
          </a:prstGeom>
          <a:noFill/>
          <a:ln/>
        </p:spPr>
        <p:txBody>
          <a:bodyPr wrap="square" rtlCol="0" anchor="ctr"/>
          <a:lstStyle/>
          <a:p>
            <a:pPr marL="0" indent="0">
              <a:buNone/>
            </a:pPr>
            <a:r>
              <a:rPr lang="en-US" sz="1200" b="1" kern="0" spc="200" dirty="0">
                <a:solidFill>
                  <a:srgbClr val="E4572E"/>
                </a:solidFill>
              </a:rPr>
              <a:t>REVENUE &amp; CATEGORY MIX</a:t>
            </a:r>
            <a:endParaRPr lang="en-US" sz="1200" dirty="0"/>
          </a:p>
        </p:txBody>
      </p:sp>
      <p:sp>
        <p:nvSpPr>
          <p:cNvPr id="3" name="Text 1"/>
          <p:cNvSpPr/>
          <p:nvPr/>
        </p:nvSpPr>
        <p:spPr>
          <a:xfrm>
            <a:off x="548640" y="594360"/>
            <a:ext cx="10972800" cy="640080"/>
          </a:xfrm>
          <a:prstGeom prst="rect">
            <a:avLst/>
          </a:prstGeom>
          <a:noFill/>
          <a:ln/>
        </p:spPr>
        <p:txBody>
          <a:bodyPr wrap="square" rtlCol="0" anchor="ctr"/>
          <a:lstStyle/>
          <a:p>
            <a:pPr marL="0" indent="0">
              <a:buNone/>
            </a:pPr>
            <a:r>
              <a:rPr lang="en-US" sz="2800" b="1" dirty="0">
                <a:solidFill>
                  <a:srgbClr val="1B2A4A"/>
                </a:solidFill>
                <a:latin typeface="Georgia" pitchFamily="34" charset="0"/>
                <a:ea typeface="Georgia" pitchFamily="34" charset="-122"/>
                <a:cs typeface="Georgia" pitchFamily="34" charset="-120"/>
              </a:rPr>
              <a:t>Dolls, Building Blocks &amp; Action Figures Lead Revenue</a:t>
            </a:r>
            <a:endParaRPr lang="en-US" sz="2800" dirty="0"/>
          </a:p>
        </p:txBody>
      </p:sp>
      <p:pic>
        <p:nvPicPr>
          <p:cNvPr id="4" name="Image 0" descr="/home/claude/toyjoy/charts/01_revenue_by_category.png"/>
          <p:cNvPicPr>
            <a:picLocks noChangeAspect="1"/>
          </p:cNvPicPr>
          <p:nvPr/>
        </p:nvPicPr>
        <p:blipFill>
          <a:blip r:embed="rId3"/>
          <a:stretch>
            <a:fillRect/>
          </a:stretch>
        </p:blipFill>
        <p:spPr>
          <a:xfrm>
            <a:off x="457200" y="1508760"/>
            <a:ext cx="6949440" cy="4041648"/>
          </a:xfrm>
          <a:prstGeom prst="rect">
            <a:avLst/>
          </a:prstGeom>
        </p:spPr>
      </p:pic>
      <p:sp>
        <p:nvSpPr>
          <p:cNvPr id="5" name="Shape 2"/>
          <p:cNvSpPr/>
          <p:nvPr/>
        </p:nvSpPr>
        <p:spPr>
          <a:xfrm>
            <a:off x="7635240" y="1508760"/>
            <a:ext cx="4023360" cy="4041648"/>
          </a:xfrm>
          <a:prstGeom prst="roundRect">
            <a:avLst>
              <a:gd name="adj" fmla="val 1818"/>
            </a:avLst>
          </a:prstGeom>
          <a:solidFill>
            <a:srgbClr val="F2F4F7"/>
          </a:solidFill>
          <a:ln/>
        </p:spPr>
      </p:sp>
      <p:sp>
        <p:nvSpPr>
          <p:cNvPr id="6" name="Text 3"/>
          <p:cNvSpPr/>
          <p:nvPr/>
        </p:nvSpPr>
        <p:spPr>
          <a:xfrm>
            <a:off x="7863840" y="1691640"/>
            <a:ext cx="3657600" cy="274320"/>
          </a:xfrm>
          <a:prstGeom prst="rect">
            <a:avLst/>
          </a:prstGeom>
          <a:noFill/>
          <a:ln/>
        </p:spPr>
        <p:txBody>
          <a:bodyPr wrap="square" rtlCol="0" anchor="ctr"/>
          <a:lstStyle/>
          <a:p>
            <a:pPr marL="0" indent="0">
              <a:buNone/>
            </a:pPr>
            <a:r>
              <a:rPr lang="en-US" sz="1100" b="1" kern="0" spc="150" dirty="0">
                <a:solidFill>
                  <a:srgbClr val="1B7F79"/>
                </a:solidFill>
              </a:rPr>
              <a:t>READING THE MIX</a:t>
            </a:r>
            <a:endParaRPr lang="en-US" sz="1100" dirty="0"/>
          </a:p>
        </p:txBody>
      </p:sp>
      <p:sp>
        <p:nvSpPr>
          <p:cNvPr id="7" name="Text 4"/>
          <p:cNvSpPr/>
          <p:nvPr/>
        </p:nvSpPr>
        <p:spPr>
          <a:xfrm>
            <a:off x="7863840" y="2103120"/>
            <a:ext cx="228600" cy="365760"/>
          </a:xfrm>
          <a:prstGeom prst="rect">
            <a:avLst/>
          </a:prstGeom>
          <a:noFill/>
          <a:ln/>
        </p:spPr>
        <p:txBody>
          <a:bodyPr wrap="square" rtlCol="0" anchor="ctr"/>
          <a:lstStyle/>
          <a:p>
            <a:pPr marL="0" indent="0">
              <a:buNone/>
            </a:pPr>
            <a:r>
              <a:rPr lang="en-US" sz="1300" b="1" dirty="0">
                <a:solidFill>
                  <a:srgbClr val="E4572E"/>
                </a:solidFill>
              </a:rPr>
              <a:t>•</a:t>
            </a:r>
            <a:endParaRPr lang="en-US" sz="1300" dirty="0"/>
          </a:p>
        </p:txBody>
      </p:sp>
      <p:sp>
        <p:nvSpPr>
          <p:cNvPr id="8" name="Text 5"/>
          <p:cNvSpPr/>
          <p:nvPr/>
        </p:nvSpPr>
        <p:spPr>
          <a:xfrm>
            <a:off x="8138160" y="2103120"/>
            <a:ext cx="3383280" cy="822960"/>
          </a:xfrm>
          <a:prstGeom prst="rect">
            <a:avLst/>
          </a:prstGeom>
          <a:noFill/>
          <a:ln/>
        </p:spPr>
        <p:txBody>
          <a:bodyPr wrap="square" rtlCol="0" anchor="ctr"/>
          <a:lstStyle/>
          <a:p>
            <a:pPr marL="0" indent="0">
              <a:lnSpc>
                <a:spcPts val="1500"/>
              </a:lnSpc>
              <a:buNone/>
            </a:pPr>
            <a:r>
              <a:rPr lang="en-US" sz="1150" dirty="0">
                <a:solidFill>
                  <a:srgbClr val="1D2433"/>
                </a:solidFill>
              </a:rPr>
              <a:t>Top 3 categories (Dolls, Building Blocks, Action Figures) generate 46.8% of total revenue.</a:t>
            </a:r>
            <a:endParaRPr lang="en-US" sz="1150" dirty="0"/>
          </a:p>
        </p:txBody>
      </p:sp>
      <p:sp>
        <p:nvSpPr>
          <p:cNvPr id="9" name="Text 6"/>
          <p:cNvSpPr/>
          <p:nvPr/>
        </p:nvSpPr>
        <p:spPr>
          <a:xfrm>
            <a:off x="7863840" y="3017520"/>
            <a:ext cx="228600" cy="365760"/>
          </a:xfrm>
          <a:prstGeom prst="rect">
            <a:avLst/>
          </a:prstGeom>
          <a:noFill/>
          <a:ln/>
        </p:spPr>
        <p:txBody>
          <a:bodyPr wrap="square" rtlCol="0" anchor="ctr"/>
          <a:lstStyle/>
          <a:p>
            <a:pPr marL="0" indent="0">
              <a:buNone/>
            </a:pPr>
            <a:r>
              <a:rPr lang="en-US" sz="1300" b="1" dirty="0">
                <a:solidFill>
                  <a:srgbClr val="E4572E"/>
                </a:solidFill>
              </a:rPr>
              <a:t>•</a:t>
            </a:r>
            <a:endParaRPr lang="en-US" sz="1300" dirty="0"/>
          </a:p>
        </p:txBody>
      </p:sp>
      <p:sp>
        <p:nvSpPr>
          <p:cNvPr id="10" name="Text 7"/>
          <p:cNvSpPr/>
          <p:nvPr/>
        </p:nvSpPr>
        <p:spPr>
          <a:xfrm>
            <a:off x="8138160" y="3017520"/>
            <a:ext cx="3383280" cy="822960"/>
          </a:xfrm>
          <a:prstGeom prst="rect">
            <a:avLst/>
          </a:prstGeom>
          <a:noFill/>
          <a:ln/>
        </p:spPr>
        <p:txBody>
          <a:bodyPr wrap="square" rtlCol="0" anchor="ctr"/>
          <a:lstStyle/>
          <a:p>
            <a:pPr marL="0" indent="0">
              <a:lnSpc>
                <a:spcPts val="1500"/>
              </a:lnSpc>
              <a:buNone/>
            </a:pPr>
            <a:r>
              <a:rPr lang="en-US" sz="1150" dirty="0">
                <a:solidFill>
                  <a:srgbClr val="1D2433"/>
                </a:solidFill>
              </a:rPr>
              <a:t>Electronic Toys is the smallest revenue contributor (8.5%) despite premium price points — a volume problem, not a pricing one.</a:t>
            </a:r>
            <a:endParaRPr lang="en-US" sz="1150" dirty="0"/>
          </a:p>
        </p:txBody>
      </p:sp>
      <p:sp>
        <p:nvSpPr>
          <p:cNvPr id="11" name="Text 8"/>
          <p:cNvSpPr/>
          <p:nvPr/>
        </p:nvSpPr>
        <p:spPr>
          <a:xfrm>
            <a:off x="7863840" y="3931920"/>
            <a:ext cx="228600" cy="365760"/>
          </a:xfrm>
          <a:prstGeom prst="rect">
            <a:avLst/>
          </a:prstGeom>
          <a:noFill/>
          <a:ln/>
        </p:spPr>
        <p:txBody>
          <a:bodyPr wrap="square" rtlCol="0" anchor="ctr"/>
          <a:lstStyle/>
          <a:p>
            <a:pPr marL="0" indent="0">
              <a:buNone/>
            </a:pPr>
            <a:r>
              <a:rPr lang="en-US" sz="1300" b="1" dirty="0">
                <a:solidFill>
                  <a:srgbClr val="E4572E"/>
                </a:solidFill>
              </a:rPr>
              <a:t>•</a:t>
            </a:r>
            <a:endParaRPr lang="en-US" sz="1300" dirty="0"/>
          </a:p>
        </p:txBody>
      </p:sp>
      <p:sp>
        <p:nvSpPr>
          <p:cNvPr id="12" name="Text 9"/>
          <p:cNvSpPr/>
          <p:nvPr/>
        </p:nvSpPr>
        <p:spPr>
          <a:xfrm>
            <a:off x="8138160" y="3931920"/>
            <a:ext cx="3383280" cy="822960"/>
          </a:xfrm>
          <a:prstGeom prst="rect">
            <a:avLst/>
          </a:prstGeom>
          <a:noFill/>
          <a:ln/>
        </p:spPr>
        <p:txBody>
          <a:bodyPr wrap="square" rtlCol="0" anchor="ctr"/>
          <a:lstStyle/>
          <a:p>
            <a:pPr marL="0" indent="0">
              <a:lnSpc>
                <a:spcPts val="1500"/>
              </a:lnSpc>
              <a:buNone/>
            </a:pPr>
            <a:r>
              <a:rPr lang="en-US" sz="1150" dirty="0">
                <a:solidFill>
                  <a:srgbClr val="1D2433"/>
                </a:solidFill>
              </a:rPr>
              <a:t>Revenue concentration means inventory decisions in the top 3 categories carry outsized cash-flow impact.</a:t>
            </a:r>
            <a:endParaRPr lang="en-US" sz="1150" dirty="0"/>
          </a:p>
        </p:txBody>
      </p:sp>
      <p:sp>
        <p:nvSpPr>
          <p:cNvPr id="14" name="Text 11"/>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8C97A8"/>
                </a:solidFill>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9144000" cy="274320"/>
          </a:xfrm>
          <a:prstGeom prst="rect">
            <a:avLst/>
          </a:prstGeom>
          <a:noFill/>
          <a:ln/>
        </p:spPr>
        <p:txBody>
          <a:bodyPr wrap="square" rtlCol="0" anchor="ctr"/>
          <a:lstStyle/>
          <a:p>
            <a:pPr marL="0" indent="0">
              <a:buNone/>
            </a:pPr>
            <a:r>
              <a:rPr lang="en-US" sz="1200" b="1" kern="0" spc="200" dirty="0">
                <a:solidFill>
                  <a:srgbClr val="E4572E"/>
                </a:solidFill>
              </a:rPr>
              <a:t>SEASONALITY</a:t>
            </a:r>
            <a:endParaRPr lang="en-US" sz="1200" dirty="0"/>
          </a:p>
        </p:txBody>
      </p:sp>
      <p:sp>
        <p:nvSpPr>
          <p:cNvPr id="3" name="Text 1"/>
          <p:cNvSpPr/>
          <p:nvPr/>
        </p:nvSpPr>
        <p:spPr>
          <a:xfrm>
            <a:off x="548640" y="594360"/>
            <a:ext cx="10972800" cy="640080"/>
          </a:xfrm>
          <a:prstGeom prst="rect">
            <a:avLst/>
          </a:prstGeom>
          <a:noFill/>
          <a:ln/>
        </p:spPr>
        <p:txBody>
          <a:bodyPr wrap="square" rtlCol="0" anchor="ctr"/>
          <a:lstStyle/>
          <a:p>
            <a:pPr marL="0" indent="0">
              <a:buNone/>
            </a:pPr>
            <a:r>
              <a:rPr lang="en-US" sz="2800" b="1" dirty="0">
                <a:solidFill>
                  <a:srgbClr val="1B2A4A"/>
                </a:solidFill>
                <a:latin typeface="Georgia" pitchFamily="34" charset="0"/>
                <a:ea typeface="Georgia" pitchFamily="34" charset="-122"/>
                <a:cs typeface="Georgia" pitchFamily="34" charset="-120"/>
              </a:rPr>
              <a:t>Demand Nearly Triples From January to December</a:t>
            </a:r>
            <a:endParaRPr lang="en-US" sz="2800" dirty="0"/>
          </a:p>
        </p:txBody>
      </p:sp>
      <p:pic>
        <p:nvPicPr>
          <p:cNvPr id="4" name="Image 0" descr="/home/claude/toyjoy/charts/02_seasonal_pattern.png"/>
          <p:cNvPicPr>
            <a:picLocks noChangeAspect="1"/>
          </p:cNvPicPr>
          <p:nvPr/>
        </p:nvPicPr>
        <p:blipFill>
          <a:blip r:embed="rId3"/>
          <a:stretch>
            <a:fillRect/>
          </a:stretch>
        </p:blipFill>
        <p:spPr>
          <a:xfrm>
            <a:off x="457200" y="1463040"/>
            <a:ext cx="7315200" cy="3657600"/>
          </a:xfrm>
          <a:prstGeom prst="rect">
            <a:avLst/>
          </a:prstGeom>
        </p:spPr>
      </p:pic>
      <p:sp>
        <p:nvSpPr>
          <p:cNvPr id="5" name="Shape 2"/>
          <p:cNvSpPr/>
          <p:nvPr/>
        </p:nvSpPr>
        <p:spPr>
          <a:xfrm>
            <a:off x="8001000" y="1463040"/>
            <a:ext cx="3657600" cy="4480560"/>
          </a:xfrm>
          <a:prstGeom prst="roundRect">
            <a:avLst>
              <a:gd name="adj" fmla="val 2000"/>
            </a:avLst>
          </a:prstGeom>
          <a:solidFill>
            <a:srgbClr val="F2F4F7"/>
          </a:solidFill>
          <a:ln/>
        </p:spPr>
      </p:sp>
      <p:sp>
        <p:nvSpPr>
          <p:cNvPr id="6" name="Text 3"/>
          <p:cNvSpPr/>
          <p:nvPr/>
        </p:nvSpPr>
        <p:spPr>
          <a:xfrm>
            <a:off x="8211312" y="1645920"/>
            <a:ext cx="3291840" cy="274320"/>
          </a:xfrm>
          <a:prstGeom prst="rect">
            <a:avLst/>
          </a:prstGeom>
          <a:noFill/>
          <a:ln/>
        </p:spPr>
        <p:txBody>
          <a:bodyPr wrap="square" rtlCol="0" anchor="ctr"/>
          <a:lstStyle/>
          <a:p>
            <a:pPr marL="0" indent="0">
              <a:buNone/>
            </a:pPr>
            <a:r>
              <a:rPr lang="en-US" sz="1100" b="1" kern="0" spc="150" dirty="0">
                <a:solidFill>
                  <a:srgbClr val="1B7F79"/>
                </a:solidFill>
              </a:rPr>
              <a:t>SEASONAL DRIVERS</a:t>
            </a:r>
            <a:endParaRPr lang="en-US" sz="1100" dirty="0"/>
          </a:p>
        </p:txBody>
      </p:sp>
      <p:sp>
        <p:nvSpPr>
          <p:cNvPr id="7" name="Text 4"/>
          <p:cNvSpPr/>
          <p:nvPr/>
        </p:nvSpPr>
        <p:spPr>
          <a:xfrm>
            <a:off x="8211312" y="2103120"/>
            <a:ext cx="3200400" cy="274320"/>
          </a:xfrm>
          <a:prstGeom prst="rect">
            <a:avLst/>
          </a:prstGeom>
          <a:noFill/>
          <a:ln/>
        </p:spPr>
        <p:txBody>
          <a:bodyPr wrap="square" rtlCol="0" anchor="ctr"/>
          <a:lstStyle/>
          <a:p>
            <a:pPr marL="0" indent="0">
              <a:buNone/>
            </a:pPr>
            <a:r>
              <a:rPr lang="en-US" sz="1250" b="1" dirty="0">
                <a:solidFill>
                  <a:srgbClr val="E4572E"/>
                </a:solidFill>
              </a:rPr>
              <a:t>Oct–Dec</a:t>
            </a:r>
            <a:endParaRPr lang="en-US" sz="1250" dirty="0"/>
          </a:p>
        </p:txBody>
      </p:sp>
      <p:sp>
        <p:nvSpPr>
          <p:cNvPr id="8" name="Text 5"/>
          <p:cNvSpPr/>
          <p:nvPr/>
        </p:nvSpPr>
        <p:spPr>
          <a:xfrm>
            <a:off x="8211312" y="2395728"/>
            <a:ext cx="3200400" cy="685800"/>
          </a:xfrm>
          <a:prstGeom prst="rect">
            <a:avLst/>
          </a:prstGeom>
          <a:noFill/>
          <a:ln/>
        </p:spPr>
        <p:txBody>
          <a:bodyPr wrap="square" rtlCol="0" anchor="ctr"/>
          <a:lstStyle/>
          <a:p>
            <a:pPr marL="0" indent="0">
              <a:lnSpc>
                <a:spcPts val="1400"/>
              </a:lnSpc>
              <a:buNone/>
            </a:pPr>
            <a:r>
              <a:rPr lang="en-US" sz="1050" dirty="0">
                <a:solidFill>
                  <a:srgbClr val="1D2433"/>
                </a:solidFill>
              </a:rPr>
              <a:t>Holiday surge across Dolls, Action Figures &amp; Building Blocks (up to 3x baseline)</a:t>
            </a:r>
            <a:endParaRPr lang="en-US" sz="1050" dirty="0"/>
          </a:p>
        </p:txBody>
      </p:sp>
      <p:sp>
        <p:nvSpPr>
          <p:cNvPr id="9" name="Text 6"/>
          <p:cNvSpPr/>
          <p:nvPr/>
        </p:nvSpPr>
        <p:spPr>
          <a:xfrm>
            <a:off x="8211312" y="3154680"/>
            <a:ext cx="3200400" cy="274320"/>
          </a:xfrm>
          <a:prstGeom prst="rect">
            <a:avLst/>
          </a:prstGeom>
          <a:noFill/>
          <a:ln/>
        </p:spPr>
        <p:txBody>
          <a:bodyPr wrap="square" rtlCol="0" anchor="ctr"/>
          <a:lstStyle/>
          <a:p>
            <a:pPr marL="0" indent="0">
              <a:buNone/>
            </a:pPr>
            <a:r>
              <a:rPr lang="en-US" sz="1250" b="1" dirty="0">
                <a:solidFill>
                  <a:srgbClr val="E4572E"/>
                </a:solidFill>
              </a:rPr>
              <a:t>Jun–Jul</a:t>
            </a:r>
            <a:endParaRPr lang="en-US" sz="1250" dirty="0"/>
          </a:p>
        </p:txBody>
      </p:sp>
      <p:sp>
        <p:nvSpPr>
          <p:cNvPr id="10" name="Text 7"/>
          <p:cNvSpPr/>
          <p:nvPr/>
        </p:nvSpPr>
        <p:spPr>
          <a:xfrm>
            <a:off x="8211312" y="3447288"/>
            <a:ext cx="3200400" cy="685800"/>
          </a:xfrm>
          <a:prstGeom prst="rect">
            <a:avLst/>
          </a:prstGeom>
          <a:noFill/>
          <a:ln/>
        </p:spPr>
        <p:txBody>
          <a:bodyPr wrap="square" rtlCol="0" anchor="ctr"/>
          <a:lstStyle/>
          <a:p>
            <a:pPr marL="0" indent="0">
              <a:lnSpc>
                <a:spcPts val="1400"/>
              </a:lnSpc>
              <a:buNone/>
            </a:pPr>
            <a:r>
              <a:rPr lang="en-US" sz="1050" dirty="0">
                <a:solidFill>
                  <a:srgbClr val="1D2433"/>
                </a:solidFill>
              </a:rPr>
              <a:t>Summer bump for Outdoor &amp; Sports toys</a:t>
            </a:r>
            <a:endParaRPr lang="en-US" sz="1050" dirty="0"/>
          </a:p>
        </p:txBody>
      </p:sp>
      <p:sp>
        <p:nvSpPr>
          <p:cNvPr id="11" name="Text 8"/>
          <p:cNvSpPr/>
          <p:nvPr/>
        </p:nvSpPr>
        <p:spPr>
          <a:xfrm>
            <a:off x="8211312" y="4206240"/>
            <a:ext cx="3200400" cy="274320"/>
          </a:xfrm>
          <a:prstGeom prst="rect">
            <a:avLst/>
          </a:prstGeom>
          <a:noFill/>
          <a:ln/>
        </p:spPr>
        <p:txBody>
          <a:bodyPr wrap="square" rtlCol="0" anchor="ctr"/>
          <a:lstStyle/>
          <a:p>
            <a:pPr marL="0" indent="0">
              <a:buNone/>
            </a:pPr>
            <a:r>
              <a:rPr lang="en-US" sz="1250" b="1" dirty="0">
                <a:solidFill>
                  <a:srgbClr val="E4572E"/>
                </a:solidFill>
              </a:rPr>
              <a:t>Aug–Sep</a:t>
            </a:r>
            <a:endParaRPr lang="en-US" sz="1250" dirty="0"/>
          </a:p>
        </p:txBody>
      </p:sp>
      <p:sp>
        <p:nvSpPr>
          <p:cNvPr id="12" name="Text 9"/>
          <p:cNvSpPr/>
          <p:nvPr/>
        </p:nvSpPr>
        <p:spPr>
          <a:xfrm>
            <a:off x="8211312" y="4498848"/>
            <a:ext cx="3200400" cy="685800"/>
          </a:xfrm>
          <a:prstGeom prst="rect">
            <a:avLst/>
          </a:prstGeom>
          <a:noFill/>
          <a:ln/>
        </p:spPr>
        <p:txBody>
          <a:bodyPr wrap="square" rtlCol="0" anchor="ctr"/>
          <a:lstStyle/>
          <a:p>
            <a:pPr marL="0" indent="0">
              <a:lnSpc>
                <a:spcPts val="1400"/>
              </a:lnSpc>
              <a:buNone/>
            </a:pPr>
            <a:r>
              <a:rPr lang="en-US" sz="1050" dirty="0">
                <a:solidFill>
                  <a:srgbClr val="1D2433"/>
                </a:solidFill>
              </a:rPr>
              <a:t>Back-to-school lift for Educational products</a:t>
            </a:r>
            <a:endParaRPr lang="en-US" sz="1050" dirty="0"/>
          </a:p>
        </p:txBody>
      </p:sp>
      <p:sp>
        <p:nvSpPr>
          <p:cNvPr id="15" name="Text 12"/>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8C97A8"/>
                </a:solidFill>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9144000" cy="274320"/>
          </a:xfrm>
          <a:prstGeom prst="rect">
            <a:avLst/>
          </a:prstGeom>
          <a:noFill/>
          <a:ln/>
        </p:spPr>
        <p:txBody>
          <a:bodyPr wrap="square" rtlCol="0" anchor="ctr"/>
          <a:lstStyle/>
          <a:p>
            <a:pPr marL="0" indent="0">
              <a:buNone/>
            </a:pPr>
            <a:r>
              <a:rPr lang="en-US" sz="1200" b="1" kern="0" spc="200" dirty="0">
                <a:solidFill>
                  <a:srgbClr val="E4572E"/>
                </a:solidFill>
              </a:rPr>
              <a:t>SEASONALITY BY CATEGORY</a:t>
            </a:r>
            <a:endParaRPr lang="en-US" sz="1200" dirty="0"/>
          </a:p>
        </p:txBody>
      </p:sp>
      <p:sp>
        <p:nvSpPr>
          <p:cNvPr id="3" name="Text 1"/>
          <p:cNvSpPr/>
          <p:nvPr/>
        </p:nvSpPr>
        <p:spPr>
          <a:xfrm>
            <a:off x="548640" y="594360"/>
            <a:ext cx="10972800" cy="640080"/>
          </a:xfrm>
          <a:prstGeom prst="rect">
            <a:avLst/>
          </a:prstGeom>
          <a:noFill/>
          <a:ln/>
        </p:spPr>
        <p:txBody>
          <a:bodyPr wrap="square" rtlCol="0" anchor="ctr"/>
          <a:lstStyle/>
          <a:p>
            <a:pPr marL="0" indent="0">
              <a:buNone/>
            </a:pPr>
            <a:r>
              <a:rPr lang="en-US" sz="2800" b="1" dirty="0">
                <a:solidFill>
                  <a:srgbClr val="1B2A4A"/>
                </a:solidFill>
                <a:latin typeface="Georgia" pitchFamily="34" charset="0"/>
                <a:ea typeface="Georgia" pitchFamily="34" charset="-122"/>
                <a:cs typeface="Georgia" pitchFamily="34" charset="-120"/>
              </a:rPr>
              <a:t>Each Category Peaks at a Different Time of Year</a:t>
            </a:r>
            <a:endParaRPr lang="en-US" sz="2800" dirty="0"/>
          </a:p>
        </p:txBody>
      </p:sp>
      <p:pic>
        <p:nvPicPr>
          <p:cNvPr id="4" name="Image 0" descr="/home/claude/toyjoy/charts/07_seasonality_heatmap.png"/>
          <p:cNvPicPr>
            <a:picLocks noChangeAspect="1"/>
          </p:cNvPicPr>
          <p:nvPr/>
        </p:nvPicPr>
        <p:blipFill>
          <a:blip r:embed="rId3"/>
          <a:stretch>
            <a:fillRect/>
          </a:stretch>
        </p:blipFill>
        <p:spPr>
          <a:xfrm>
            <a:off x="822960" y="1508760"/>
            <a:ext cx="10515600" cy="4892040"/>
          </a:xfrm>
          <a:prstGeom prst="rect">
            <a:avLst/>
          </a:prstGeom>
        </p:spPr>
      </p:pic>
      <p:sp>
        <p:nvSpPr>
          <p:cNvPr id="6" name="Text 3"/>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8C97A8"/>
                </a:solidFill>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9144000" cy="274320"/>
          </a:xfrm>
          <a:prstGeom prst="rect">
            <a:avLst/>
          </a:prstGeom>
          <a:noFill/>
          <a:ln/>
        </p:spPr>
        <p:txBody>
          <a:bodyPr wrap="square" rtlCol="0" anchor="ctr"/>
          <a:lstStyle/>
          <a:p>
            <a:pPr marL="0" indent="0">
              <a:buNone/>
            </a:pPr>
            <a:r>
              <a:rPr lang="en-US" sz="1200" b="1" kern="0" spc="200" dirty="0">
                <a:solidFill>
                  <a:srgbClr val="E4572E"/>
                </a:solidFill>
              </a:rPr>
              <a:t>EXCESS INVENTORY</a:t>
            </a:r>
            <a:endParaRPr lang="en-US" sz="1200" dirty="0"/>
          </a:p>
        </p:txBody>
      </p:sp>
      <p:sp>
        <p:nvSpPr>
          <p:cNvPr id="3" name="Text 1"/>
          <p:cNvSpPr/>
          <p:nvPr/>
        </p:nvSpPr>
        <p:spPr>
          <a:xfrm>
            <a:off x="548640" y="594360"/>
            <a:ext cx="10972800" cy="640080"/>
          </a:xfrm>
          <a:prstGeom prst="rect">
            <a:avLst/>
          </a:prstGeom>
          <a:noFill/>
          <a:ln/>
        </p:spPr>
        <p:txBody>
          <a:bodyPr wrap="square" rtlCol="0" anchor="ctr"/>
          <a:lstStyle/>
          <a:p>
            <a:pPr marL="0" indent="0">
              <a:buNone/>
            </a:pPr>
            <a:r>
              <a:rPr lang="en-US" sz="2800" b="1" dirty="0">
                <a:solidFill>
                  <a:srgbClr val="1B2A4A"/>
                </a:solidFill>
                <a:latin typeface="Georgia" pitchFamily="34" charset="0"/>
                <a:ea typeface="Georgia" pitchFamily="34" charset="-122"/>
                <a:cs typeface="Georgia" pitchFamily="34" charset="-120"/>
              </a:rPr>
              <a:t>10 Products Are Tying Up Working Capital</a:t>
            </a:r>
            <a:endParaRPr lang="en-US" sz="2800" dirty="0"/>
          </a:p>
        </p:txBody>
      </p:sp>
      <p:pic>
        <p:nvPicPr>
          <p:cNvPr id="4" name="Image 0" descr="/home/claude/toyjoy/charts/04_top_overstock.png"/>
          <p:cNvPicPr>
            <a:picLocks noChangeAspect="1"/>
          </p:cNvPicPr>
          <p:nvPr/>
        </p:nvPicPr>
        <p:blipFill>
          <a:blip r:embed="rId3"/>
          <a:stretch>
            <a:fillRect/>
          </a:stretch>
        </p:blipFill>
        <p:spPr>
          <a:xfrm>
            <a:off x="457200" y="1463040"/>
            <a:ext cx="7040880" cy="4114800"/>
          </a:xfrm>
          <a:prstGeom prst="rect">
            <a:avLst/>
          </a:prstGeom>
        </p:spPr>
      </p:pic>
      <p:sp>
        <p:nvSpPr>
          <p:cNvPr id="5" name="Shape 2"/>
          <p:cNvSpPr/>
          <p:nvPr/>
        </p:nvSpPr>
        <p:spPr>
          <a:xfrm>
            <a:off x="7680960" y="1463040"/>
            <a:ext cx="3977640" cy="4114800"/>
          </a:xfrm>
          <a:prstGeom prst="roundRect">
            <a:avLst>
              <a:gd name="adj" fmla="val 1839"/>
            </a:avLst>
          </a:prstGeom>
          <a:solidFill>
            <a:srgbClr val="F2F4F7"/>
          </a:solidFill>
          <a:ln/>
        </p:spPr>
      </p:sp>
      <p:sp>
        <p:nvSpPr>
          <p:cNvPr id="6" name="Text 3"/>
          <p:cNvSpPr/>
          <p:nvPr/>
        </p:nvSpPr>
        <p:spPr>
          <a:xfrm>
            <a:off x="7909560" y="1645920"/>
            <a:ext cx="3566160" cy="274320"/>
          </a:xfrm>
          <a:prstGeom prst="rect">
            <a:avLst/>
          </a:prstGeom>
          <a:noFill/>
          <a:ln/>
        </p:spPr>
        <p:txBody>
          <a:bodyPr wrap="square" rtlCol="0" anchor="ctr"/>
          <a:lstStyle/>
          <a:p>
            <a:pPr marL="0" indent="0">
              <a:buNone/>
            </a:pPr>
            <a:r>
              <a:rPr lang="en-US" sz="1100" b="1" kern="0" spc="150" dirty="0">
                <a:solidFill>
                  <a:srgbClr val="E4572E"/>
                </a:solidFill>
              </a:rPr>
              <a:t>WHAT'S GOING ON</a:t>
            </a:r>
            <a:endParaRPr lang="en-US" sz="1100" dirty="0"/>
          </a:p>
        </p:txBody>
      </p:sp>
      <p:sp>
        <p:nvSpPr>
          <p:cNvPr id="7" name="Text 4"/>
          <p:cNvSpPr/>
          <p:nvPr/>
        </p:nvSpPr>
        <p:spPr>
          <a:xfrm>
            <a:off x="7909560" y="2057400"/>
            <a:ext cx="228600" cy="365760"/>
          </a:xfrm>
          <a:prstGeom prst="rect">
            <a:avLst/>
          </a:prstGeom>
          <a:noFill/>
          <a:ln/>
        </p:spPr>
        <p:txBody>
          <a:bodyPr wrap="square" rtlCol="0" anchor="ctr"/>
          <a:lstStyle/>
          <a:p>
            <a:pPr marL="0" indent="0">
              <a:buNone/>
            </a:pPr>
            <a:r>
              <a:rPr lang="en-US" sz="1300" b="1" dirty="0">
                <a:solidFill>
                  <a:srgbClr val="E4572E"/>
                </a:solidFill>
              </a:rPr>
              <a:t>•</a:t>
            </a:r>
            <a:endParaRPr lang="en-US" sz="1300" dirty="0"/>
          </a:p>
        </p:txBody>
      </p:sp>
      <p:sp>
        <p:nvSpPr>
          <p:cNvPr id="8" name="Text 5"/>
          <p:cNvSpPr/>
          <p:nvPr/>
        </p:nvSpPr>
        <p:spPr>
          <a:xfrm>
            <a:off x="8183880" y="2057400"/>
            <a:ext cx="3383280" cy="914400"/>
          </a:xfrm>
          <a:prstGeom prst="rect">
            <a:avLst/>
          </a:prstGeom>
          <a:noFill/>
          <a:ln/>
        </p:spPr>
        <p:txBody>
          <a:bodyPr wrap="square" rtlCol="0" anchor="ctr"/>
          <a:lstStyle/>
          <a:p>
            <a:pPr marL="0" indent="0">
              <a:lnSpc>
                <a:spcPts val="1500"/>
              </a:lnSpc>
              <a:buNone/>
            </a:pPr>
            <a:r>
              <a:rPr lang="en-US" sz="1100" dirty="0">
                <a:solidFill>
                  <a:srgbClr val="1D2433"/>
                </a:solidFill>
              </a:rPr>
              <a:t>These SKUs turn over far slower than the portfolio average — inventory sells 100–230x slower relative to stock on hand vs. top performers.</a:t>
            </a:r>
            <a:endParaRPr lang="en-US" sz="1100" dirty="0"/>
          </a:p>
        </p:txBody>
      </p:sp>
      <p:sp>
        <p:nvSpPr>
          <p:cNvPr id="9" name="Text 6"/>
          <p:cNvSpPr/>
          <p:nvPr/>
        </p:nvSpPr>
        <p:spPr>
          <a:xfrm>
            <a:off x="7909560" y="3108960"/>
            <a:ext cx="228600" cy="365760"/>
          </a:xfrm>
          <a:prstGeom prst="rect">
            <a:avLst/>
          </a:prstGeom>
          <a:noFill/>
          <a:ln/>
        </p:spPr>
        <p:txBody>
          <a:bodyPr wrap="square" rtlCol="0" anchor="ctr"/>
          <a:lstStyle/>
          <a:p>
            <a:pPr marL="0" indent="0">
              <a:buNone/>
            </a:pPr>
            <a:r>
              <a:rPr lang="en-US" sz="1300" b="1" dirty="0">
                <a:solidFill>
                  <a:srgbClr val="E4572E"/>
                </a:solidFill>
              </a:rPr>
              <a:t>•</a:t>
            </a:r>
            <a:endParaRPr lang="en-US" sz="1300" dirty="0"/>
          </a:p>
        </p:txBody>
      </p:sp>
      <p:sp>
        <p:nvSpPr>
          <p:cNvPr id="10" name="Text 7"/>
          <p:cNvSpPr/>
          <p:nvPr/>
        </p:nvSpPr>
        <p:spPr>
          <a:xfrm>
            <a:off x="8183880" y="3108960"/>
            <a:ext cx="3383280" cy="914400"/>
          </a:xfrm>
          <a:prstGeom prst="rect">
            <a:avLst/>
          </a:prstGeom>
          <a:noFill/>
          <a:ln/>
        </p:spPr>
        <p:txBody>
          <a:bodyPr wrap="square" rtlCol="0" anchor="ctr"/>
          <a:lstStyle/>
          <a:p>
            <a:pPr marL="0" indent="0">
              <a:lnSpc>
                <a:spcPts val="1500"/>
              </a:lnSpc>
              <a:buNone/>
            </a:pPr>
            <a:r>
              <a:rPr lang="en-US" sz="1100" dirty="0">
                <a:solidFill>
                  <a:srgbClr val="1D2433"/>
                </a:solidFill>
              </a:rPr>
              <a:t>Snuggle Bunny Soft Toy and Princess Aria Doll carry the highest excess value: steady but low-volume sellers over-ordered on a fixed reorder cycle.</a:t>
            </a:r>
            <a:endParaRPr lang="en-US" sz="1100" dirty="0"/>
          </a:p>
        </p:txBody>
      </p:sp>
      <p:sp>
        <p:nvSpPr>
          <p:cNvPr id="11" name="Text 8"/>
          <p:cNvSpPr/>
          <p:nvPr/>
        </p:nvSpPr>
        <p:spPr>
          <a:xfrm>
            <a:off x="7909560" y="4160520"/>
            <a:ext cx="228600" cy="365760"/>
          </a:xfrm>
          <a:prstGeom prst="rect">
            <a:avLst/>
          </a:prstGeom>
          <a:noFill/>
          <a:ln/>
        </p:spPr>
        <p:txBody>
          <a:bodyPr wrap="square" rtlCol="0" anchor="ctr"/>
          <a:lstStyle/>
          <a:p>
            <a:pPr marL="0" indent="0">
              <a:buNone/>
            </a:pPr>
            <a:r>
              <a:rPr lang="en-US" sz="1300" b="1" dirty="0">
                <a:solidFill>
                  <a:srgbClr val="E4572E"/>
                </a:solidFill>
              </a:rPr>
              <a:t>•</a:t>
            </a:r>
            <a:endParaRPr lang="en-US" sz="1300" dirty="0"/>
          </a:p>
        </p:txBody>
      </p:sp>
      <p:sp>
        <p:nvSpPr>
          <p:cNvPr id="12" name="Text 9"/>
          <p:cNvSpPr/>
          <p:nvPr/>
        </p:nvSpPr>
        <p:spPr>
          <a:xfrm>
            <a:off x="8183880" y="4160520"/>
            <a:ext cx="3383280" cy="914400"/>
          </a:xfrm>
          <a:prstGeom prst="rect">
            <a:avLst/>
          </a:prstGeom>
          <a:noFill/>
          <a:ln/>
        </p:spPr>
        <p:txBody>
          <a:bodyPr wrap="square" rtlCol="0" anchor="ctr"/>
          <a:lstStyle/>
          <a:p>
            <a:pPr marL="0" indent="0">
              <a:lnSpc>
                <a:spcPts val="1500"/>
              </a:lnSpc>
              <a:buNone/>
            </a:pPr>
            <a:r>
              <a:rPr lang="en-US" sz="1100" dirty="0">
                <a:solidFill>
                  <a:srgbClr val="1D2433"/>
                </a:solidFill>
              </a:rPr>
              <a:t>Puzzles &amp; Games and Plush Toys categories account for the largest share of overstocked SKUs.</a:t>
            </a:r>
            <a:endParaRPr lang="en-US" sz="1100" dirty="0"/>
          </a:p>
        </p:txBody>
      </p:sp>
      <p:sp>
        <p:nvSpPr>
          <p:cNvPr id="14" name="Text 11"/>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8C97A8"/>
                </a:solidFill>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9144000" cy="274320"/>
          </a:xfrm>
          <a:prstGeom prst="rect">
            <a:avLst/>
          </a:prstGeom>
          <a:noFill/>
          <a:ln/>
        </p:spPr>
        <p:txBody>
          <a:bodyPr wrap="square" rtlCol="0" anchor="ctr"/>
          <a:lstStyle/>
          <a:p>
            <a:pPr marL="0" indent="0">
              <a:buNone/>
            </a:pPr>
            <a:r>
              <a:rPr lang="en-US" sz="1200" b="1" kern="0" spc="200" dirty="0">
                <a:solidFill>
                  <a:srgbClr val="E4572E"/>
                </a:solidFill>
              </a:rPr>
              <a:t>LOST SALES</a:t>
            </a:r>
            <a:endParaRPr lang="en-US" sz="1200" dirty="0"/>
          </a:p>
        </p:txBody>
      </p:sp>
      <p:sp>
        <p:nvSpPr>
          <p:cNvPr id="3" name="Text 1"/>
          <p:cNvSpPr/>
          <p:nvPr/>
        </p:nvSpPr>
        <p:spPr>
          <a:xfrm>
            <a:off x="548640" y="594360"/>
            <a:ext cx="10972800" cy="640080"/>
          </a:xfrm>
          <a:prstGeom prst="rect">
            <a:avLst/>
          </a:prstGeom>
          <a:noFill/>
          <a:ln/>
        </p:spPr>
        <p:txBody>
          <a:bodyPr wrap="square" rtlCol="0" anchor="ctr"/>
          <a:lstStyle/>
          <a:p>
            <a:pPr marL="0" indent="0">
              <a:buNone/>
            </a:pPr>
            <a:r>
              <a:rPr lang="en-US" sz="2800" b="1" dirty="0">
                <a:solidFill>
                  <a:srgbClr val="1B2A4A"/>
                </a:solidFill>
                <a:latin typeface="Georgia" pitchFamily="34" charset="0"/>
                <a:ea typeface="Georgia" pitchFamily="34" charset="-122"/>
                <a:cs typeface="Georgia" pitchFamily="34" charset="-120"/>
              </a:rPr>
              <a:t>Chronic Stockouts Are Costing ~$1M in Revenue</a:t>
            </a:r>
            <a:endParaRPr lang="en-US" sz="2800" dirty="0"/>
          </a:p>
        </p:txBody>
      </p:sp>
      <p:pic>
        <p:nvPicPr>
          <p:cNvPr id="4" name="Image 0" descr="/home/claude/toyjoy/charts/05_top_stockout.png"/>
          <p:cNvPicPr>
            <a:picLocks noChangeAspect="1"/>
          </p:cNvPicPr>
          <p:nvPr/>
        </p:nvPicPr>
        <p:blipFill>
          <a:blip r:embed="rId3"/>
          <a:stretch>
            <a:fillRect/>
          </a:stretch>
        </p:blipFill>
        <p:spPr>
          <a:xfrm>
            <a:off x="457200" y="1463040"/>
            <a:ext cx="7040880" cy="4114800"/>
          </a:xfrm>
          <a:prstGeom prst="rect">
            <a:avLst/>
          </a:prstGeom>
        </p:spPr>
      </p:pic>
      <p:sp>
        <p:nvSpPr>
          <p:cNvPr id="5" name="Shape 2"/>
          <p:cNvSpPr/>
          <p:nvPr/>
        </p:nvSpPr>
        <p:spPr>
          <a:xfrm>
            <a:off x="7680960" y="1463040"/>
            <a:ext cx="3977640" cy="4114800"/>
          </a:xfrm>
          <a:prstGeom prst="roundRect">
            <a:avLst>
              <a:gd name="adj" fmla="val 1839"/>
            </a:avLst>
          </a:prstGeom>
          <a:solidFill>
            <a:srgbClr val="F2F4F7"/>
          </a:solidFill>
          <a:ln/>
        </p:spPr>
      </p:sp>
      <p:sp>
        <p:nvSpPr>
          <p:cNvPr id="6" name="Text 3"/>
          <p:cNvSpPr/>
          <p:nvPr/>
        </p:nvSpPr>
        <p:spPr>
          <a:xfrm>
            <a:off x="7909560" y="1645920"/>
            <a:ext cx="3566160" cy="274320"/>
          </a:xfrm>
          <a:prstGeom prst="rect">
            <a:avLst/>
          </a:prstGeom>
          <a:noFill/>
          <a:ln/>
        </p:spPr>
        <p:txBody>
          <a:bodyPr wrap="square" rtlCol="0" anchor="ctr"/>
          <a:lstStyle/>
          <a:p>
            <a:pPr marL="0" indent="0">
              <a:buNone/>
            </a:pPr>
            <a:r>
              <a:rPr lang="en-US" sz="1100" b="1" kern="0" spc="150" dirty="0">
                <a:solidFill>
                  <a:srgbClr val="E8A33D"/>
                </a:solidFill>
              </a:rPr>
              <a:t>WHAT'S GOING ON</a:t>
            </a:r>
            <a:endParaRPr lang="en-US" sz="1100" dirty="0"/>
          </a:p>
        </p:txBody>
      </p:sp>
      <p:sp>
        <p:nvSpPr>
          <p:cNvPr id="7" name="Text 4"/>
          <p:cNvSpPr/>
          <p:nvPr/>
        </p:nvSpPr>
        <p:spPr>
          <a:xfrm>
            <a:off x="7909560" y="2057400"/>
            <a:ext cx="228600" cy="365760"/>
          </a:xfrm>
          <a:prstGeom prst="rect">
            <a:avLst/>
          </a:prstGeom>
          <a:noFill/>
          <a:ln/>
        </p:spPr>
        <p:txBody>
          <a:bodyPr wrap="square" rtlCol="0" anchor="ctr"/>
          <a:lstStyle/>
          <a:p>
            <a:pPr marL="0" indent="0">
              <a:buNone/>
            </a:pPr>
            <a:r>
              <a:rPr lang="en-US" sz="1300" b="1" dirty="0">
                <a:solidFill>
                  <a:srgbClr val="E8A33D"/>
                </a:solidFill>
              </a:rPr>
              <a:t>•</a:t>
            </a:r>
            <a:endParaRPr lang="en-US" sz="1300" dirty="0"/>
          </a:p>
        </p:txBody>
      </p:sp>
      <p:sp>
        <p:nvSpPr>
          <p:cNvPr id="8" name="Text 5"/>
          <p:cNvSpPr/>
          <p:nvPr/>
        </p:nvSpPr>
        <p:spPr>
          <a:xfrm>
            <a:off x="8183880" y="2057400"/>
            <a:ext cx="3383280" cy="914400"/>
          </a:xfrm>
          <a:prstGeom prst="rect">
            <a:avLst/>
          </a:prstGeom>
          <a:noFill/>
          <a:ln/>
        </p:spPr>
        <p:txBody>
          <a:bodyPr wrap="square" rtlCol="0" anchor="ctr"/>
          <a:lstStyle/>
          <a:p>
            <a:pPr marL="0" indent="0">
              <a:lnSpc>
                <a:spcPts val="1500"/>
              </a:lnSpc>
              <a:buNone/>
            </a:pPr>
            <a:r>
              <a:rPr lang="en-US" sz="1100" dirty="0">
                <a:solidFill>
                  <a:srgbClr val="1D2433"/>
                </a:solidFill>
              </a:rPr>
              <a:t>Cyber Knight X1 and RC Racer Turbo were out of stock in 61% of months — both are high-demand, rising-trend products under-ordered relative to their growth.</a:t>
            </a:r>
            <a:endParaRPr lang="en-US" sz="1100" dirty="0"/>
          </a:p>
        </p:txBody>
      </p:sp>
      <p:sp>
        <p:nvSpPr>
          <p:cNvPr id="9" name="Text 6"/>
          <p:cNvSpPr/>
          <p:nvPr/>
        </p:nvSpPr>
        <p:spPr>
          <a:xfrm>
            <a:off x="7909560" y="3108960"/>
            <a:ext cx="228600" cy="365760"/>
          </a:xfrm>
          <a:prstGeom prst="rect">
            <a:avLst/>
          </a:prstGeom>
          <a:noFill/>
          <a:ln/>
        </p:spPr>
        <p:txBody>
          <a:bodyPr wrap="square" rtlCol="0" anchor="ctr"/>
          <a:lstStyle/>
          <a:p>
            <a:pPr marL="0" indent="0">
              <a:buNone/>
            </a:pPr>
            <a:r>
              <a:rPr lang="en-US" sz="1300" b="1" dirty="0">
                <a:solidFill>
                  <a:srgbClr val="E8A33D"/>
                </a:solidFill>
              </a:rPr>
              <a:t>•</a:t>
            </a:r>
            <a:endParaRPr lang="en-US" sz="1300" dirty="0"/>
          </a:p>
        </p:txBody>
      </p:sp>
      <p:sp>
        <p:nvSpPr>
          <p:cNvPr id="10" name="Text 7"/>
          <p:cNvSpPr/>
          <p:nvPr/>
        </p:nvSpPr>
        <p:spPr>
          <a:xfrm>
            <a:off x="8183880" y="3108960"/>
            <a:ext cx="3383280" cy="914400"/>
          </a:xfrm>
          <a:prstGeom prst="rect">
            <a:avLst/>
          </a:prstGeom>
          <a:noFill/>
          <a:ln/>
        </p:spPr>
        <p:txBody>
          <a:bodyPr wrap="square" rtlCol="0" anchor="ctr"/>
          <a:lstStyle/>
          <a:p>
            <a:pPr marL="0" indent="0">
              <a:lnSpc>
                <a:spcPts val="1500"/>
              </a:lnSpc>
              <a:buNone/>
            </a:pPr>
            <a:r>
              <a:rPr lang="en-US" sz="1100" dirty="0">
                <a:solidFill>
                  <a:srgbClr val="1D2433"/>
                </a:solidFill>
              </a:rPr>
              <a:t>Twinkle Toes Doll alone accounts for an estimated 2,067 lost unit sales.</a:t>
            </a:r>
            <a:endParaRPr lang="en-US" sz="1100" dirty="0"/>
          </a:p>
        </p:txBody>
      </p:sp>
      <p:sp>
        <p:nvSpPr>
          <p:cNvPr id="11" name="Text 8"/>
          <p:cNvSpPr/>
          <p:nvPr/>
        </p:nvSpPr>
        <p:spPr>
          <a:xfrm>
            <a:off x="7909560" y="4160520"/>
            <a:ext cx="228600" cy="365760"/>
          </a:xfrm>
          <a:prstGeom prst="rect">
            <a:avLst/>
          </a:prstGeom>
          <a:noFill/>
          <a:ln/>
        </p:spPr>
        <p:txBody>
          <a:bodyPr wrap="square" rtlCol="0" anchor="ctr"/>
          <a:lstStyle/>
          <a:p>
            <a:pPr marL="0" indent="0">
              <a:buNone/>
            </a:pPr>
            <a:r>
              <a:rPr lang="en-US" sz="1300" b="1" dirty="0">
                <a:solidFill>
                  <a:srgbClr val="E8A33D"/>
                </a:solidFill>
              </a:rPr>
              <a:t>•</a:t>
            </a:r>
            <a:endParaRPr lang="en-US" sz="1300" dirty="0"/>
          </a:p>
        </p:txBody>
      </p:sp>
      <p:sp>
        <p:nvSpPr>
          <p:cNvPr id="12" name="Text 9"/>
          <p:cNvSpPr/>
          <p:nvPr/>
        </p:nvSpPr>
        <p:spPr>
          <a:xfrm>
            <a:off x="8183880" y="4160520"/>
            <a:ext cx="3383280" cy="914400"/>
          </a:xfrm>
          <a:prstGeom prst="rect">
            <a:avLst/>
          </a:prstGeom>
          <a:noFill/>
          <a:ln/>
        </p:spPr>
        <p:txBody>
          <a:bodyPr wrap="square" rtlCol="0" anchor="ctr"/>
          <a:lstStyle/>
          <a:p>
            <a:pPr marL="0" indent="0">
              <a:lnSpc>
                <a:spcPts val="1500"/>
              </a:lnSpc>
              <a:buNone/>
            </a:pPr>
            <a:r>
              <a:rPr lang="en-US" sz="1100" dirty="0">
                <a:solidFill>
                  <a:srgbClr val="1D2433"/>
                </a:solidFill>
              </a:rPr>
              <a:t>Action Figures and Electronic Toys have the highest average stockout rates (~39% and ~29% of months) despite strong per-unit revenue.</a:t>
            </a:r>
            <a:endParaRPr lang="en-US" sz="1100" dirty="0"/>
          </a:p>
        </p:txBody>
      </p:sp>
      <p:sp>
        <p:nvSpPr>
          <p:cNvPr id="14" name="Text 11"/>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8C97A8"/>
                </a:solidFill>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9144000" cy="274320"/>
          </a:xfrm>
          <a:prstGeom prst="rect">
            <a:avLst/>
          </a:prstGeom>
          <a:noFill/>
          <a:ln/>
        </p:spPr>
        <p:txBody>
          <a:bodyPr wrap="square" rtlCol="0" anchor="ctr"/>
          <a:lstStyle/>
          <a:p>
            <a:pPr marL="0" indent="0">
              <a:buNone/>
            </a:pPr>
            <a:r>
              <a:rPr lang="en-US" sz="1200" b="1" kern="0" spc="200" dirty="0">
                <a:solidFill>
                  <a:srgbClr val="E4572E"/>
                </a:solidFill>
              </a:rPr>
              <a:t>PRODUCT PORTFOLIO VIEW</a:t>
            </a:r>
            <a:endParaRPr lang="en-US" sz="1200" dirty="0"/>
          </a:p>
        </p:txBody>
      </p:sp>
      <p:sp>
        <p:nvSpPr>
          <p:cNvPr id="3" name="Text 1"/>
          <p:cNvSpPr/>
          <p:nvPr/>
        </p:nvSpPr>
        <p:spPr>
          <a:xfrm>
            <a:off x="548640" y="594360"/>
            <a:ext cx="10972800" cy="640080"/>
          </a:xfrm>
          <a:prstGeom prst="rect">
            <a:avLst/>
          </a:prstGeom>
          <a:noFill/>
          <a:ln/>
        </p:spPr>
        <p:txBody>
          <a:bodyPr wrap="square" rtlCol="0" anchor="ctr"/>
          <a:lstStyle/>
          <a:p>
            <a:pPr marL="0" indent="0">
              <a:buNone/>
            </a:pPr>
            <a:r>
              <a:rPr lang="en-US" sz="2800" b="1" dirty="0">
                <a:solidFill>
                  <a:srgbClr val="1B2A4A"/>
                </a:solidFill>
                <a:latin typeface="Georgia" pitchFamily="34" charset="0"/>
                <a:ea typeface="Georgia" pitchFamily="34" charset="-122"/>
                <a:cs typeface="Georgia" pitchFamily="34" charset="-120"/>
              </a:rPr>
              <a:t>Where Each Product Sits: Turnover vs. Revenue</a:t>
            </a:r>
            <a:endParaRPr lang="en-US" sz="2800" dirty="0"/>
          </a:p>
        </p:txBody>
      </p:sp>
      <p:pic>
        <p:nvPicPr>
          <p:cNvPr id="4" name="Image 0" descr="/home/claude/toyjoy/charts/06_portfolio_map.png"/>
          <p:cNvPicPr>
            <a:picLocks noChangeAspect="1"/>
          </p:cNvPicPr>
          <p:nvPr/>
        </p:nvPicPr>
        <p:blipFill>
          <a:blip r:embed="rId3"/>
          <a:stretch>
            <a:fillRect/>
          </a:stretch>
        </p:blipFill>
        <p:spPr>
          <a:xfrm>
            <a:off x="822960" y="1417320"/>
            <a:ext cx="7863840" cy="4983480"/>
          </a:xfrm>
          <a:prstGeom prst="rect">
            <a:avLst/>
          </a:prstGeom>
        </p:spPr>
      </p:pic>
      <p:sp>
        <p:nvSpPr>
          <p:cNvPr id="5" name="Shape 2"/>
          <p:cNvSpPr/>
          <p:nvPr/>
        </p:nvSpPr>
        <p:spPr>
          <a:xfrm>
            <a:off x="8915400" y="1417320"/>
            <a:ext cx="2788920" cy="4983480"/>
          </a:xfrm>
          <a:prstGeom prst="roundRect">
            <a:avLst>
              <a:gd name="adj" fmla="val 2623"/>
            </a:avLst>
          </a:prstGeom>
          <a:solidFill>
            <a:srgbClr val="1B2A4A"/>
          </a:solidFill>
          <a:ln/>
        </p:spPr>
      </p:sp>
      <p:sp>
        <p:nvSpPr>
          <p:cNvPr id="6" name="Text 3"/>
          <p:cNvSpPr/>
          <p:nvPr/>
        </p:nvSpPr>
        <p:spPr>
          <a:xfrm>
            <a:off x="9098280" y="1627632"/>
            <a:ext cx="2468880" cy="274320"/>
          </a:xfrm>
          <a:prstGeom prst="rect">
            <a:avLst/>
          </a:prstGeom>
          <a:noFill/>
          <a:ln/>
        </p:spPr>
        <p:txBody>
          <a:bodyPr wrap="square" rtlCol="0" anchor="ctr"/>
          <a:lstStyle/>
          <a:p>
            <a:pPr marL="0" indent="0">
              <a:buNone/>
            </a:pPr>
            <a:r>
              <a:rPr lang="en-US" sz="1050" b="1" kern="0" spc="100" dirty="0">
                <a:solidFill>
                  <a:srgbClr val="E8A33D"/>
                </a:solidFill>
              </a:rPr>
              <a:t>QUADRANT GUIDE</a:t>
            </a:r>
            <a:endParaRPr lang="en-US" sz="1050" dirty="0"/>
          </a:p>
        </p:txBody>
      </p:sp>
      <p:sp>
        <p:nvSpPr>
          <p:cNvPr id="7" name="Text 4"/>
          <p:cNvSpPr/>
          <p:nvPr/>
        </p:nvSpPr>
        <p:spPr>
          <a:xfrm>
            <a:off x="9098280" y="1965960"/>
            <a:ext cx="2468880" cy="274320"/>
          </a:xfrm>
          <a:prstGeom prst="rect">
            <a:avLst/>
          </a:prstGeom>
          <a:noFill/>
          <a:ln/>
        </p:spPr>
        <p:txBody>
          <a:bodyPr wrap="square" rtlCol="0" anchor="ctr"/>
          <a:lstStyle/>
          <a:p>
            <a:pPr marL="0" indent="0">
              <a:buNone/>
            </a:pPr>
            <a:r>
              <a:rPr lang="en-US" sz="1150" b="1" dirty="0">
                <a:solidFill>
                  <a:srgbClr val="1B7F79"/>
                </a:solidFill>
              </a:rPr>
              <a:t>Top-right</a:t>
            </a:r>
            <a:endParaRPr lang="en-US" sz="1150" dirty="0"/>
          </a:p>
        </p:txBody>
      </p:sp>
      <p:sp>
        <p:nvSpPr>
          <p:cNvPr id="8" name="Text 5"/>
          <p:cNvSpPr/>
          <p:nvPr/>
        </p:nvSpPr>
        <p:spPr>
          <a:xfrm>
            <a:off x="9098280" y="2221992"/>
            <a:ext cx="2468880" cy="777240"/>
          </a:xfrm>
          <a:prstGeom prst="rect">
            <a:avLst/>
          </a:prstGeom>
          <a:noFill/>
          <a:ln/>
        </p:spPr>
        <p:txBody>
          <a:bodyPr wrap="square" rtlCol="0" anchor="ctr"/>
          <a:lstStyle/>
          <a:p>
            <a:pPr marL="0" indent="0">
              <a:lnSpc>
                <a:spcPts val="1300"/>
              </a:lnSpc>
              <a:buNone/>
            </a:pPr>
            <a:r>
              <a:rPr lang="en-US" sz="980" dirty="0">
                <a:solidFill>
                  <a:srgbClr val="D5DCEA"/>
                </a:solidFill>
              </a:rPr>
              <a:t>Stars — high revenue, fast turnover. Protect availability.</a:t>
            </a:r>
            <a:endParaRPr lang="en-US" sz="980" dirty="0"/>
          </a:p>
        </p:txBody>
      </p:sp>
      <p:sp>
        <p:nvSpPr>
          <p:cNvPr id="9" name="Text 6"/>
          <p:cNvSpPr/>
          <p:nvPr/>
        </p:nvSpPr>
        <p:spPr>
          <a:xfrm>
            <a:off x="9098280" y="3044952"/>
            <a:ext cx="2468880" cy="274320"/>
          </a:xfrm>
          <a:prstGeom prst="rect">
            <a:avLst/>
          </a:prstGeom>
          <a:noFill/>
          <a:ln/>
        </p:spPr>
        <p:txBody>
          <a:bodyPr wrap="square" rtlCol="0" anchor="ctr"/>
          <a:lstStyle/>
          <a:p>
            <a:pPr marL="0" indent="0">
              <a:buNone/>
            </a:pPr>
            <a:r>
              <a:rPr lang="en-US" sz="1150" b="1" dirty="0">
                <a:solidFill>
                  <a:srgbClr val="1B7F79"/>
                </a:solidFill>
              </a:rPr>
              <a:t>Top-left</a:t>
            </a:r>
            <a:endParaRPr lang="en-US" sz="1150" dirty="0"/>
          </a:p>
        </p:txBody>
      </p:sp>
      <p:sp>
        <p:nvSpPr>
          <p:cNvPr id="10" name="Text 7"/>
          <p:cNvSpPr/>
          <p:nvPr/>
        </p:nvSpPr>
        <p:spPr>
          <a:xfrm>
            <a:off x="9098280" y="3300984"/>
            <a:ext cx="2468880" cy="777240"/>
          </a:xfrm>
          <a:prstGeom prst="rect">
            <a:avLst/>
          </a:prstGeom>
          <a:noFill/>
          <a:ln/>
        </p:spPr>
        <p:txBody>
          <a:bodyPr wrap="square" rtlCol="0" anchor="ctr"/>
          <a:lstStyle/>
          <a:p>
            <a:pPr marL="0" indent="0">
              <a:lnSpc>
                <a:spcPts val="1300"/>
              </a:lnSpc>
              <a:buNone/>
            </a:pPr>
            <a:r>
              <a:rPr lang="en-US" sz="980" dirty="0">
                <a:solidFill>
                  <a:srgbClr val="D5DCEA"/>
                </a:solidFill>
              </a:rPr>
              <a:t>Hidden gems — high revenue but slow turnover. Investigate pricing/promo.</a:t>
            </a:r>
            <a:endParaRPr lang="en-US" sz="980" dirty="0"/>
          </a:p>
        </p:txBody>
      </p:sp>
      <p:sp>
        <p:nvSpPr>
          <p:cNvPr id="11" name="Text 8"/>
          <p:cNvSpPr/>
          <p:nvPr/>
        </p:nvSpPr>
        <p:spPr>
          <a:xfrm>
            <a:off x="9098280" y="4123944"/>
            <a:ext cx="2468880" cy="274320"/>
          </a:xfrm>
          <a:prstGeom prst="rect">
            <a:avLst/>
          </a:prstGeom>
          <a:noFill/>
          <a:ln/>
        </p:spPr>
        <p:txBody>
          <a:bodyPr wrap="square" rtlCol="0" anchor="ctr"/>
          <a:lstStyle/>
          <a:p>
            <a:pPr marL="0" indent="0">
              <a:buNone/>
            </a:pPr>
            <a:r>
              <a:rPr lang="en-US" sz="1150" b="1" dirty="0">
                <a:solidFill>
                  <a:srgbClr val="1B7F79"/>
                </a:solidFill>
              </a:rPr>
              <a:t>Bottom-right</a:t>
            </a:r>
            <a:endParaRPr lang="en-US" sz="1150" dirty="0"/>
          </a:p>
        </p:txBody>
      </p:sp>
      <p:sp>
        <p:nvSpPr>
          <p:cNvPr id="12" name="Text 9"/>
          <p:cNvSpPr/>
          <p:nvPr/>
        </p:nvSpPr>
        <p:spPr>
          <a:xfrm>
            <a:off x="9098280" y="4379976"/>
            <a:ext cx="2468880" cy="777240"/>
          </a:xfrm>
          <a:prstGeom prst="rect">
            <a:avLst/>
          </a:prstGeom>
          <a:noFill/>
          <a:ln/>
        </p:spPr>
        <p:txBody>
          <a:bodyPr wrap="square" rtlCol="0" anchor="ctr"/>
          <a:lstStyle/>
          <a:p>
            <a:pPr marL="0" indent="0">
              <a:lnSpc>
                <a:spcPts val="1300"/>
              </a:lnSpc>
              <a:buNone/>
            </a:pPr>
            <a:r>
              <a:rPr lang="en-US" sz="980" dirty="0">
                <a:solidFill>
                  <a:srgbClr val="D5DCEA"/>
                </a:solidFill>
              </a:rPr>
              <a:t>Fast but low-value — good candidates for bundling.</a:t>
            </a:r>
            <a:endParaRPr lang="en-US" sz="980" dirty="0"/>
          </a:p>
        </p:txBody>
      </p:sp>
      <p:sp>
        <p:nvSpPr>
          <p:cNvPr id="13" name="Text 10"/>
          <p:cNvSpPr/>
          <p:nvPr/>
        </p:nvSpPr>
        <p:spPr>
          <a:xfrm>
            <a:off x="9098280" y="5202936"/>
            <a:ext cx="2468880" cy="274320"/>
          </a:xfrm>
          <a:prstGeom prst="rect">
            <a:avLst/>
          </a:prstGeom>
          <a:noFill/>
          <a:ln/>
        </p:spPr>
        <p:txBody>
          <a:bodyPr wrap="square" rtlCol="0" anchor="ctr"/>
          <a:lstStyle/>
          <a:p>
            <a:pPr marL="0" indent="0">
              <a:buNone/>
            </a:pPr>
            <a:r>
              <a:rPr lang="en-US" sz="1150" b="1" dirty="0">
                <a:solidFill>
                  <a:srgbClr val="1B7F79"/>
                </a:solidFill>
              </a:rPr>
              <a:t>Bottom-left</a:t>
            </a:r>
            <a:endParaRPr lang="en-US" sz="1150" dirty="0"/>
          </a:p>
        </p:txBody>
      </p:sp>
      <p:sp>
        <p:nvSpPr>
          <p:cNvPr id="14" name="Text 11"/>
          <p:cNvSpPr/>
          <p:nvPr/>
        </p:nvSpPr>
        <p:spPr>
          <a:xfrm>
            <a:off x="9098280" y="5458968"/>
            <a:ext cx="2468880" cy="777240"/>
          </a:xfrm>
          <a:prstGeom prst="rect">
            <a:avLst/>
          </a:prstGeom>
          <a:noFill/>
          <a:ln/>
        </p:spPr>
        <p:txBody>
          <a:bodyPr wrap="square" rtlCol="0" anchor="ctr"/>
          <a:lstStyle/>
          <a:p>
            <a:pPr marL="0" indent="0">
              <a:lnSpc>
                <a:spcPts val="1300"/>
              </a:lnSpc>
              <a:buNone/>
            </a:pPr>
            <a:r>
              <a:rPr lang="en-US" sz="980" dirty="0">
                <a:solidFill>
                  <a:srgbClr val="D5DCEA"/>
                </a:solidFill>
              </a:rPr>
              <a:t>Underperformers — low revenue, slow turnover. Candidates to discontinue or deep-discount.</a:t>
            </a:r>
            <a:endParaRPr lang="en-US" sz="980" dirty="0"/>
          </a:p>
        </p:txBody>
      </p:sp>
      <p:sp>
        <p:nvSpPr>
          <p:cNvPr id="16" name="Text 13"/>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8C97A8"/>
                </a:solidFill>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9144000" cy="274320"/>
          </a:xfrm>
          <a:prstGeom prst="rect">
            <a:avLst/>
          </a:prstGeom>
          <a:noFill/>
          <a:ln/>
        </p:spPr>
        <p:txBody>
          <a:bodyPr wrap="square" rtlCol="0" anchor="ctr"/>
          <a:lstStyle/>
          <a:p>
            <a:pPr marL="0" indent="0">
              <a:buNone/>
            </a:pPr>
            <a:r>
              <a:rPr lang="en-US" sz="1200" b="1" kern="0" spc="200" dirty="0">
                <a:solidFill>
                  <a:srgbClr val="E4572E"/>
                </a:solidFill>
              </a:rPr>
              <a:t>RECOMMENDATIONS</a:t>
            </a:r>
            <a:endParaRPr lang="en-US" sz="1200" dirty="0"/>
          </a:p>
        </p:txBody>
      </p:sp>
      <p:sp>
        <p:nvSpPr>
          <p:cNvPr id="3" name="Text 1"/>
          <p:cNvSpPr/>
          <p:nvPr/>
        </p:nvSpPr>
        <p:spPr>
          <a:xfrm>
            <a:off x="548640" y="594360"/>
            <a:ext cx="10972800" cy="640080"/>
          </a:xfrm>
          <a:prstGeom prst="rect">
            <a:avLst/>
          </a:prstGeom>
          <a:noFill/>
          <a:ln/>
        </p:spPr>
        <p:txBody>
          <a:bodyPr wrap="square" rtlCol="0" anchor="ctr"/>
          <a:lstStyle/>
          <a:p>
            <a:pPr marL="0" indent="0">
              <a:buNone/>
            </a:pPr>
            <a:r>
              <a:rPr lang="en-US" sz="2800" b="1" dirty="0">
                <a:solidFill>
                  <a:srgbClr val="1B2A4A"/>
                </a:solidFill>
                <a:latin typeface="Georgia" pitchFamily="34" charset="0"/>
                <a:ea typeface="Georgia" pitchFamily="34" charset="-122"/>
                <a:cs typeface="Georgia" pitchFamily="34" charset="-120"/>
              </a:rPr>
              <a:t>Quick Wins and Long-Term Strategy</a:t>
            </a:r>
            <a:endParaRPr lang="en-US" sz="2800" dirty="0"/>
          </a:p>
        </p:txBody>
      </p:sp>
      <p:sp>
        <p:nvSpPr>
          <p:cNvPr id="4" name="Shape 2"/>
          <p:cNvSpPr/>
          <p:nvPr/>
        </p:nvSpPr>
        <p:spPr>
          <a:xfrm>
            <a:off x="548640" y="1508760"/>
            <a:ext cx="5440680" cy="4480560"/>
          </a:xfrm>
          <a:prstGeom prst="roundRect">
            <a:avLst>
              <a:gd name="adj" fmla="val 1633"/>
            </a:avLst>
          </a:prstGeom>
          <a:solidFill>
            <a:srgbClr val="F2F4F7"/>
          </a:solidFill>
          <a:ln/>
        </p:spPr>
      </p:sp>
      <p:sp>
        <p:nvSpPr>
          <p:cNvPr id="5" name="Text 3"/>
          <p:cNvSpPr/>
          <p:nvPr/>
        </p:nvSpPr>
        <p:spPr>
          <a:xfrm>
            <a:off x="777240" y="1691640"/>
            <a:ext cx="4937760" cy="320040"/>
          </a:xfrm>
          <a:prstGeom prst="rect">
            <a:avLst/>
          </a:prstGeom>
          <a:noFill/>
          <a:ln/>
        </p:spPr>
        <p:txBody>
          <a:bodyPr wrap="square" rtlCol="0" anchor="ctr"/>
          <a:lstStyle/>
          <a:p>
            <a:pPr marL="0" indent="0">
              <a:buNone/>
            </a:pPr>
            <a:r>
              <a:rPr lang="en-US" sz="1300" b="1" kern="0" spc="100" dirty="0">
                <a:solidFill>
                  <a:srgbClr val="E4572E"/>
                </a:solidFill>
              </a:rPr>
              <a:t>QUICK WINS (0–90 DAYS)</a:t>
            </a:r>
            <a:endParaRPr lang="en-US" sz="1300" dirty="0"/>
          </a:p>
        </p:txBody>
      </p:sp>
      <p:sp>
        <p:nvSpPr>
          <p:cNvPr id="6" name="Shape 4"/>
          <p:cNvSpPr/>
          <p:nvPr/>
        </p:nvSpPr>
        <p:spPr>
          <a:xfrm>
            <a:off x="777240" y="2176272"/>
            <a:ext cx="146304" cy="146304"/>
          </a:xfrm>
          <a:prstGeom prst="ellipse">
            <a:avLst/>
          </a:prstGeom>
          <a:solidFill>
            <a:srgbClr val="E4572E"/>
          </a:solidFill>
          <a:ln/>
        </p:spPr>
      </p:sp>
      <p:sp>
        <p:nvSpPr>
          <p:cNvPr id="7" name="Text 5"/>
          <p:cNvSpPr/>
          <p:nvPr/>
        </p:nvSpPr>
        <p:spPr>
          <a:xfrm>
            <a:off x="1051560" y="2057400"/>
            <a:ext cx="4800600" cy="914400"/>
          </a:xfrm>
          <a:prstGeom prst="rect">
            <a:avLst/>
          </a:prstGeom>
          <a:noFill/>
          <a:ln/>
        </p:spPr>
        <p:txBody>
          <a:bodyPr wrap="square" rtlCol="0" anchor="ctr"/>
          <a:lstStyle/>
          <a:p>
            <a:pPr marL="0" indent="0">
              <a:lnSpc>
                <a:spcPts val="1450"/>
              </a:lnSpc>
              <a:buNone/>
            </a:pPr>
            <a:r>
              <a:rPr lang="en-US" sz="1100" dirty="0">
                <a:solidFill>
                  <a:srgbClr val="1D2433"/>
                </a:solidFill>
              </a:rPr>
              <a:t>Discount or bundle the 10 overstocked SKUs (Snuggle Bunny, Princess Aria Doll, LightUp Drone, etc.) to free up ~$6.7K/month in tied-up capital per typical stocking cycle.</a:t>
            </a:r>
            <a:endParaRPr lang="en-US" sz="1100" dirty="0"/>
          </a:p>
        </p:txBody>
      </p:sp>
      <p:sp>
        <p:nvSpPr>
          <p:cNvPr id="8" name="Shape 6"/>
          <p:cNvSpPr/>
          <p:nvPr/>
        </p:nvSpPr>
        <p:spPr>
          <a:xfrm>
            <a:off x="777240" y="3163824"/>
            <a:ext cx="146304" cy="146304"/>
          </a:xfrm>
          <a:prstGeom prst="ellipse">
            <a:avLst/>
          </a:prstGeom>
          <a:solidFill>
            <a:srgbClr val="E4572E"/>
          </a:solidFill>
          <a:ln/>
        </p:spPr>
      </p:sp>
      <p:sp>
        <p:nvSpPr>
          <p:cNvPr id="9" name="Text 7"/>
          <p:cNvSpPr/>
          <p:nvPr/>
        </p:nvSpPr>
        <p:spPr>
          <a:xfrm>
            <a:off x="1051560" y="3044952"/>
            <a:ext cx="4800600" cy="914400"/>
          </a:xfrm>
          <a:prstGeom prst="rect">
            <a:avLst/>
          </a:prstGeom>
          <a:noFill/>
          <a:ln/>
        </p:spPr>
        <p:txBody>
          <a:bodyPr wrap="square" rtlCol="0" anchor="ctr"/>
          <a:lstStyle/>
          <a:p>
            <a:pPr marL="0" indent="0">
              <a:lnSpc>
                <a:spcPts val="1450"/>
              </a:lnSpc>
              <a:buNone/>
            </a:pPr>
            <a:r>
              <a:rPr lang="en-US" sz="1100" dirty="0">
                <a:solidFill>
                  <a:srgbClr val="1D2433"/>
                </a:solidFill>
              </a:rPr>
              <a:t>Rush-reorder Cyber Knight X1, RC Racer Turbo &amp; Twinkle Toes Doll ahead of the next peak — these are the biggest lost-revenue drivers.</a:t>
            </a:r>
            <a:endParaRPr lang="en-US" sz="1100" dirty="0"/>
          </a:p>
        </p:txBody>
      </p:sp>
      <p:sp>
        <p:nvSpPr>
          <p:cNvPr id="10" name="Shape 8"/>
          <p:cNvSpPr/>
          <p:nvPr/>
        </p:nvSpPr>
        <p:spPr>
          <a:xfrm>
            <a:off x="777240" y="4151376"/>
            <a:ext cx="146304" cy="146304"/>
          </a:xfrm>
          <a:prstGeom prst="ellipse">
            <a:avLst/>
          </a:prstGeom>
          <a:solidFill>
            <a:srgbClr val="E4572E"/>
          </a:solidFill>
          <a:ln/>
        </p:spPr>
      </p:sp>
      <p:sp>
        <p:nvSpPr>
          <p:cNvPr id="11" name="Text 9"/>
          <p:cNvSpPr/>
          <p:nvPr/>
        </p:nvSpPr>
        <p:spPr>
          <a:xfrm>
            <a:off x="1051560" y="4032504"/>
            <a:ext cx="4800600" cy="914400"/>
          </a:xfrm>
          <a:prstGeom prst="rect">
            <a:avLst/>
          </a:prstGeom>
          <a:noFill/>
          <a:ln/>
        </p:spPr>
        <p:txBody>
          <a:bodyPr wrap="square" rtlCol="0" anchor="ctr"/>
          <a:lstStyle/>
          <a:p>
            <a:pPr marL="0" indent="0">
              <a:lnSpc>
                <a:spcPts val="1450"/>
              </a:lnSpc>
              <a:buNone/>
            </a:pPr>
            <a:r>
              <a:rPr lang="en-US" sz="1100" dirty="0">
                <a:solidFill>
                  <a:srgbClr val="1D2433"/>
                </a:solidFill>
              </a:rPr>
              <a:t>Shift restock timing to front-load Sept/Oct before the Oct–Dec surge, instead of the current flat quarterly cycle.</a:t>
            </a:r>
            <a:endParaRPr lang="en-US" sz="1100" dirty="0"/>
          </a:p>
        </p:txBody>
      </p:sp>
      <p:sp>
        <p:nvSpPr>
          <p:cNvPr id="12" name="Shape 10"/>
          <p:cNvSpPr/>
          <p:nvPr/>
        </p:nvSpPr>
        <p:spPr>
          <a:xfrm>
            <a:off x="777240" y="5138928"/>
            <a:ext cx="146304" cy="146304"/>
          </a:xfrm>
          <a:prstGeom prst="ellipse">
            <a:avLst/>
          </a:prstGeom>
          <a:solidFill>
            <a:srgbClr val="E4572E"/>
          </a:solidFill>
          <a:ln/>
        </p:spPr>
      </p:sp>
      <p:sp>
        <p:nvSpPr>
          <p:cNvPr id="13" name="Text 11"/>
          <p:cNvSpPr/>
          <p:nvPr/>
        </p:nvSpPr>
        <p:spPr>
          <a:xfrm>
            <a:off x="1051560" y="5020056"/>
            <a:ext cx="4800600" cy="914400"/>
          </a:xfrm>
          <a:prstGeom prst="rect">
            <a:avLst/>
          </a:prstGeom>
          <a:noFill/>
          <a:ln/>
        </p:spPr>
        <p:txBody>
          <a:bodyPr wrap="square" rtlCol="0" anchor="ctr"/>
          <a:lstStyle/>
          <a:p>
            <a:pPr marL="0" indent="0">
              <a:lnSpc>
                <a:spcPts val="1450"/>
              </a:lnSpc>
              <a:buNone/>
            </a:pPr>
            <a:r>
              <a:rPr lang="en-US" sz="1100" dirty="0">
                <a:solidFill>
                  <a:srgbClr val="1D2433"/>
                </a:solidFill>
              </a:rPr>
              <a:t>Pause automatic reorders for the 3–5 lowest-turnover, lowest-revenue SKUs pending a pricing/assortment review.</a:t>
            </a:r>
            <a:endParaRPr lang="en-US" sz="1100" dirty="0"/>
          </a:p>
        </p:txBody>
      </p:sp>
      <p:sp>
        <p:nvSpPr>
          <p:cNvPr id="14" name="Shape 12"/>
          <p:cNvSpPr/>
          <p:nvPr/>
        </p:nvSpPr>
        <p:spPr>
          <a:xfrm>
            <a:off x="6172200" y="1508760"/>
            <a:ext cx="5440680" cy="4480560"/>
          </a:xfrm>
          <a:prstGeom prst="roundRect">
            <a:avLst>
              <a:gd name="adj" fmla="val 1633"/>
            </a:avLst>
          </a:prstGeom>
          <a:solidFill>
            <a:srgbClr val="1B2A4A"/>
          </a:solidFill>
          <a:ln/>
        </p:spPr>
      </p:sp>
      <p:sp>
        <p:nvSpPr>
          <p:cNvPr id="15" name="Text 13"/>
          <p:cNvSpPr/>
          <p:nvPr/>
        </p:nvSpPr>
        <p:spPr>
          <a:xfrm>
            <a:off x="6400800" y="1691640"/>
            <a:ext cx="4937760" cy="320040"/>
          </a:xfrm>
          <a:prstGeom prst="rect">
            <a:avLst/>
          </a:prstGeom>
          <a:noFill/>
          <a:ln/>
        </p:spPr>
        <p:txBody>
          <a:bodyPr wrap="square" rtlCol="0" anchor="ctr"/>
          <a:lstStyle/>
          <a:p>
            <a:pPr marL="0" indent="0">
              <a:buNone/>
            </a:pPr>
            <a:r>
              <a:rPr lang="en-US" sz="1300" b="1" kern="0" spc="100" dirty="0">
                <a:solidFill>
                  <a:srgbClr val="E8A33D"/>
                </a:solidFill>
              </a:rPr>
              <a:t>LONG-TERM STRATEGY</a:t>
            </a:r>
            <a:endParaRPr lang="en-US" sz="1300" dirty="0"/>
          </a:p>
        </p:txBody>
      </p:sp>
      <p:sp>
        <p:nvSpPr>
          <p:cNvPr id="16" name="Shape 14"/>
          <p:cNvSpPr/>
          <p:nvPr/>
        </p:nvSpPr>
        <p:spPr>
          <a:xfrm>
            <a:off x="6400800" y="2176272"/>
            <a:ext cx="146304" cy="146304"/>
          </a:xfrm>
          <a:prstGeom prst="ellipse">
            <a:avLst/>
          </a:prstGeom>
          <a:solidFill>
            <a:srgbClr val="E8A33D"/>
          </a:solidFill>
          <a:ln/>
        </p:spPr>
      </p:sp>
      <p:sp>
        <p:nvSpPr>
          <p:cNvPr id="17" name="Text 15"/>
          <p:cNvSpPr/>
          <p:nvPr/>
        </p:nvSpPr>
        <p:spPr>
          <a:xfrm>
            <a:off x="6675120" y="2057400"/>
            <a:ext cx="4800600" cy="914400"/>
          </a:xfrm>
          <a:prstGeom prst="rect">
            <a:avLst/>
          </a:prstGeom>
          <a:noFill/>
          <a:ln/>
        </p:spPr>
        <p:txBody>
          <a:bodyPr wrap="square" rtlCol="0" anchor="ctr"/>
          <a:lstStyle/>
          <a:p>
            <a:pPr marL="0" indent="0">
              <a:lnSpc>
                <a:spcPts val="1450"/>
              </a:lnSpc>
              <a:buNone/>
            </a:pPr>
            <a:r>
              <a:rPr lang="en-US" sz="1100" dirty="0">
                <a:solidFill>
                  <a:srgbClr val="FFFFFF"/>
                </a:solidFill>
              </a:rPr>
              <a:t>Move to category-specific, seasonally-weighted reorder points instead of one flat cycle for all products.</a:t>
            </a:r>
            <a:endParaRPr lang="en-US" sz="1100" dirty="0"/>
          </a:p>
        </p:txBody>
      </p:sp>
      <p:sp>
        <p:nvSpPr>
          <p:cNvPr id="18" name="Shape 16"/>
          <p:cNvSpPr/>
          <p:nvPr/>
        </p:nvSpPr>
        <p:spPr>
          <a:xfrm>
            <a:off x="6400800" y="3163824"/>
            <a:ext cx="146304" cy="146304"/>
          </a:xfrm>
          <a:prstGeom prst="ellipse">
            <a:avLst/>
          </a:prstGeom>
          <a:solidFill>
            <a:srgbClr val="E8A33D"/>
          </a:solidFill>
          <a:ln/>
        </p:spPr>
      </p:sp>
      <p:sp>
        <p:nvSpPr>
          <p:cNvPr id="19" name="Text 17"/>
          <p:cNvSpPr/>
          <p:nvPr/>
        </p:nvSpPr>
        <p:spPr>
          <a:xfrm>
            <a:off x="6675120" y="3044952"/>
            <a:ext cx="4800600" cy="914400"/>
          </a:xfrm>
          <a:prstGeom prst="rect">
            <a:avLst/>
          </a:prstGeom>
          <a:noFill/>
          <a:ln/>
        </p:spPr>
        <p:txBody>
          <a:bodyPr wrap="square" rtlCol="0" anchor="ctr"/>
          <a:lstStyle/>
          <a:p>
            <a:pPr marL="0" indent="0">
              <a:lnSpc>
                <a:spcPts val="1450"/>
              </a:lnSpc>
              <a:buNone/>
            </a:pPr>
            <a:r>
              <a:rPr lang="en-US" sz="1100" dirty="0">
                <a:solidFill>
                  <a:srgbClr val="FFFFFF"/>
                </a:solidFill>
              </a:rPr>
              <a:t>Build a rolling demand forecast (3-month lookahead) using the last 3 years of seasonal indices per category.</a:t>
            </a:r>
            <a:endParaRPr lang="en-US" sz="1100" dirty="0"/>
          </a:p>
        </p:txBody>
      </p:sp>
      <p:sp>
        <p:nvSpPr>
          <p:cNvPr id="20" name="Shape 18"/>
          <p:cNvSpPr/>
          <p:nvPr/>
        </p:nvSpPr>
        <p:spPr>
          <a:xfrm>
            <a:off x="6400800" y="4151376"/>
            <a:ext cx="146304" cy="146304"/>
          </a:xfrm>
          <a:prstGeom prst="ellipse">
            <a:avLst/>
          </a:prstGeom>
          <a:solidFill>
            <a:srgbClr val="E8A33D"/>
          </a:solidFill>
          <a:ln/>
        </p:spPr>
      </p:sp>
      <p:sp>
        <p:nvSpPr>
          <p:cNvPr id="21" name="Text 19"/>
          <p:cNvSpPr/>
          <p:nvPr/>
        </p:nvSpPr>
        <p:spPr>
          <a:xfrm>
            <a:off x="6675120" y="4032504"/>
            <a:ext cx="4800600" cy="914400"/>
          </a:xfrm>
          <a:prstGeom prst="rect">
            <a:avLst/>
          </a:prstGeom>
          <a:noFill/>
          <a:ln/>
        </p:spPr>
        <p:txBody>
          <a:bodyPr wrap="square" rtlCol="0" anchor="ctr"/>
          <a:lstStyle/>
          <a:p>
            <a:pPr marL="0" indent="0">
              <a:lnSpc>
                <a:spcPts val="1450"/>
              </a:lnSpc>
              <a:buNone/>
            </a:pPr>
            <a:r>
              <a:rPr lang="en-US" sz="1100" dirty="0">
                <a:solidFill>
                  <a:srgbClr val="FFFFFF"/>
                </a:solidFill>
              </a:rPr>
              <a:t>Set differentiated safety-stock buffers: higher for star performers heading into their peak season, lower for steady/underperforming SKUs.</a:t>
            </a:r>
            <a:endParaRPr lang="en-US" sz="1100" dirty="0"/>
          </a:p>
        </p:txBody>
      </p:sp>
      <p:sp>
        <p:nvSpPr>
          <p:cNvPr id="22" name="Shape 20"/>
          <p:cNvSpPr/>
          <p:nvPr/>
        </p:nvSpPr>
        <p:spPr>
          <a:xfrm>
            <a:off x="6400800" y="5138928"/>
            <a:ext cx="146304" cy="146304"/>
          </a:xfrm>
          <a:prstGeom prst="ellipse">
            <a:avLst/>
          </a:prstGeom>
          <a:solidFill>
            <a:srgbClr val="E8A33D"/>
          </a:solidFill>
          <a:ln/>
        </p:spPr>
      </p:sp>
      <p:sp>
        <p:nvSpPr>
          <p:cNvPr id="23" name="Text 21"/>
          <p:cNvSpPr/>
          <p:nvPr/>
        </p:nvSpPr>
        <p:spPr>
          <a:xfrm>
            <a:off x="6675120" y="5020056"/>
            <a:ext cx="4800600" cy="914400"/>
          </a:xfrm>
          <a:prstGeom prst="rect">
            <a:avLst/>
          </a:prstGeom>
          <a:noFill/>
          <a:ln/>
        </p:spPr>
        <p:txBody>
          <a:bodyPr wrap="square" rtlCol="0" anchor="ctr"/>
          <a:lstStyle/>
          <a:p>
            <a:pPr marL="0" indent="0">
              <a:lnSpc>
                <a:spcPts val="1450"/>
              </a:lnSpc>
              <a:buNone/>
            </a:pPr>
            <a:r>
              <a:rPr lang="en-US" sz="1100" dirty="0">
                <a:solidFill>
                  <a:srgbClr val="FFFFFF"/>
                </a:solidFill>
              </a:rPr>
              <a:t>Establish a quarterly portfolio review using the turnover-vs-revenue map to systematically retire bottom-left underperformers.</a:t>
            </a:r>
            <a:endParaRPr lang="en-US" sz="1100" dirty="0"/>
          </a:p>
        </p:txBody>
      </p:sp>
      <p:sp>
        <p:nvSpPr>
          <p:cNvPr id="25" name="Text 23"/>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8C97A8"/>
                </a:solidFill>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176</TotalTime>
  <Words>886</Words>
  <Application>Microsoft Office PowerPoint</Application>
  <PresentationFormat>Widescreen</PresentationFormat>
  <Paragraphs>122</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rantej singh</cp:lastModifiedBy>
  <cp:revision>2</cp:revision>
  <dcterms:created xsi:type="dcterms:W3CDTF">2026-08-09T03:54:19Z</dcterms:created>
  <dcterms:modified xsi:type="dcterms:W3CDTF">2026-08-11T05:25:26Z</dcterms:modified>
</cp:coreProperties>
</file>